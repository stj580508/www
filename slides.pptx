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開場說辭：各位老師好！今天這場研習我們不講生澀難懂的程式碼，重點只有一個：讓 AI 成為每天幫你備課、算加權成績、自動修完研習的實習老師，今天下課前大家都能產出實質成果！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285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93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09F3E"/>
                </a:solidFill>
                <a:latin typeface="微軟正黑體"/>
              </a:defRPr>
            </a:pPr>
            <a:r>
              <a:t>🌿 ANTIGRAVITY 代理 AI 於教學上的應用研習（第一場）</a:t>
            </a:r>
          </a:p>
          <a:p>
            <a:pPr>
              <a:spcAft>
                <a:spcPts val="1800"/>
              </a:spcAft>
              <a:defRPr sz="4400" b="1">
                <a:solidFill>
                  <a:srgbClr val="FAF7F2"/>
                </a:solidFill>
                <a:latin typeface="微軟正黑體"/>
              </a:defRPr>
            </a:pPr>
            <a:r>
              <a:t>打通任督二脈：</a:t>
            </a:r>
            <a:br/>
            <a:r>
              <a:t>從對話到代理執行 ✕ MCP ✕ 成績自動化</a:t>
            </a:r>
          </a:p>
          <a:p>
            <a:pPr>
              <a:defRPr sz="2000">
                <a:solidFill>
                  <a:srgbClr val="DAE2DB"/>
                </a:solidFill>
                <a:latin typeface="微軟正黑體"/>
              </a:defRPr>
            </a:pPr>
            <a:r>
              <a:t>環境巡檢建置 ✕ 提示語大師（Prompt Master）心法 ✕ 磨課師 MCP 自動化 ✕ Excel 成績加權實戰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3B9"/>
                </a:solidFill>
                <a:latin typeface="微軟正黑體"/>
              </a:defRPr>
            </a:pPr>
            <a:r>
              <a:t>🎯 研習對象：中小學與高中職教師（零基礎友善）  |  ⏱️ 研習時長：180 分鐘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研習導覽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02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今日研習大綱與學習地圖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109728"/>
          </a:xfrm>
          <a:prstGeom prst="round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單元 01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代理 AI 觀念啟蒙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顧問 vs. 實習老師，跨時代的能力躍升與三大超能力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10972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單元 02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環境建置與安全檢測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AI 數位辦公桌建立、沙盒機制保障、零代碼一鍵安裝工具庫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212080" cy="109728"/>
          </a:xfrm>
          <a:prstGeom prst="roundRect">
            <a:avLst/>
          </a:prstGeom>
          <a:solidFill>
            <a:srgbClr val="E0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9F3E"/>
                </a:solidFill>
                <a:latin typeface="微軟正黑體"/>
              </a:defRPr>
            </a:pPr>
            <a:r>
              <a:t>單元 03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提示語大師 ✕ MCP 自動化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CRIS 架構、電阻網路圖文實測對決、磨課師自動修課助手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212080" cy="109728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7C41"/>
                </a:solidFill>
                <a:latin typeface="微軟正黑體"/>
              </a:defRPr>
            </a:pPr>
            <a:r>
              <a:t>單元 04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Excel 算成績全自動化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紙本隨手記秒轉 Excel、加權算分、及格粉紅標記、學情圖表分析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03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老師日常的三大行政與教學痛點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146304"/>
          </a:xfrm>
          <a:prstGeom prst="round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📝 改考卷與算成績</a:t>
            </a:r>
          </a:p>
          <a:p>
            <a:pPr>
              <a:lnSpc>
                <a:spcPct val="140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手動拉 Excel 函數</a:t>
            </a:r>
            <a:br/>
            <a:r>
              <a:t>段考平時加權算到眼花</a:t>
            </a:r>
            <a:br/>
            <a:r>
              <a:t>不及格篩選改色耗費數小時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146304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🌐 每年必修研習折磨</a:t>
            </a:r>
          </a:p>
          <a:p>
            <a:pPr>
              <a:lnSpc>
                <a:spcPct val="140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磨課師/酷課雲必修幾十小時</a:t>
            </a:r>
            <a:br/>
            <a:r>
              <a:t>每 20 分鐘彈窗防閒置中斷</a:t>
            </a:r>
            <a:br/>
            <a:r>
              <a:t>播完不跳下一單元，被迫當點擊工人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146304"/>
          </a:xfrm>
          <a:prstGeom prst="round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🧠 剛入門的提示語焦慮</a:t>
            </a:r>
          </a:p>
          <a:p>
            <a:pPr>
              <a:lnSpc>
                <a:spcPct val="140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面對空白對話框不知道怎麼說</a:t>
            </a:r>
            <a:br/>
            <a:r>
              <a:t>隨便問一句回答空洞又無效</a:t>
            </a:r>
            <a:br/>
            <a:r>
              <a:t>不知道如何下達具體執行規格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04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從「對話問答」到「自主辦事」的跨時代躍升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6C757D"/>
                </a:solidFill>
                <a:latin typeface="微軟正黑體"/>
              </a:defRPr>
            </a:pPr>
            <a:r>
              <a:t>傳統對話 AI（ChatGPT 等）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700" b="1">
                <a:solidFill>
                  <a:srgbClr val="C25E2E"/>
                </a:solidFill>
                <a:latin typeface="微軟正黑體"/>
              </a:defRPr>
            </a:pPr>
            <a:r>
              <a:t>就像一位【顧問】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只動嘴巴回答，不動手做事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產出散落對話框，需手動複製貼上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單次問答，無法連續跨檔案操作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需要人盯著螢幕一步一步追問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435"/>
                </a:solidFill>
                <a:latin typeface="微軟正黑體"/>
              </a:defRPr>
            </a:pPr>
            <a:r>
              <a:t>Antigravity 代理人 (Agent)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700" b="1">
                <a:solidFill>
                  <a:srgbClr val="C25E2E"/>
                </a:solidFill>
                <a:latin typeface="微軟正黑體"/>
              </a:defRPr>
            </a:pPr>
            <a:r>
              <a:t>就像一位【數位實習老師】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具備虛擬雙手，能直接在電腦建檔運算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直接產出可開啟的 .xlsx 實體檔案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支援「連續動作鏈」，自動執行多步驟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下達目標後自主工作，完成時向您回報！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05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認識 Antigravity 代理人的「三大超能力」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🧠 自主規劃 (Plan)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把大任務拆解為執行清單</a:t>
            </a:r>
          </a:p>
          <a:p>
            <a:pPr>
              <a:lnSpc>
                <a:spcPct val="135000"/>
              </a:lnSpc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給定教學目標，自動啟動深度思考，拆解第一步、第二步、第三步，避免做白工。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196596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🛠️ 工具調用 (Tools)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擁有讀寫檔案與運算的能力</a:t>
            </a:r>
          </a:p>
          <a:p>
            <a:pPr>
              <a:lnSpc>
                <a:spcPct val="135000"/>
              </a:lnSpc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不只產出文字，能自主編寫並執行腳本，處理 Excel 表格加權運算與圖表繪製。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96596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📦 工作區成果 (Artifacts)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實體檔案直接存在你的硬碟</a:t>
            </a:r>
          </a:p>
          <a:p>
            <a:pPr>
              <a:lnSpc>
                <a:spcPct val="135000"/>
              </a:lnSpc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所有成績表與報告直接存在電腦資料夾，右側面板隨時即時預覽，一鍵複製使用。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06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打造你的「AI 數位辦公桌」：專屬教學工作區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📂 左側：專案檔案庫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打開 Antigravity 點選 Open Workspace，選擇或新建「2026_教學專案」資料夾。所有由 AI 建立的表格都存於此。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💬 中央：對話指揮中心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如同你的數位助教辦公桌。在這裡下達 CRIS 提示詞，觀察 AI 的思考過程 (Thinking) 與動作執行。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📱 右側：成果即時預覽區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檔案產生後自動在此彈出預覽！試算表、長條圖與文字直接呈現，免手動開外部軟體即可快速檢查確認。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07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安心守則：什麼是「沙盒機制 (Sandbox)」？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🛡️ 老師最常擔心的問題：「AI 操作我的電腦，會不會把我原本的重要公文改壞？」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專屬隔離區（Sandbox 沙盒）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透明可見的執行過程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AI 的每一步動作、修改了哪個檔案，全部在畫布上記錄得清清楚楚，隨時可以復原。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資安與隱私第一準則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練習時請勿使用真實學生的身分證字號、家長私人電話等敏感個資，使用代號或模擬資料備課最安心。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08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初學者必備：零代碼環境一鍵健檢與已裝自動化程式清冊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🖥️ 本機實測已就緒之自動化工具清冊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⚡ 基礎環境核心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Python 3.14 (直譯器) ✕ Node.js v24 (MCP運作) ✕ Git (版本/推播)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📐 專業電學與科學繪圖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schemdraw (IEEE鋸齒電阻/電源/閉迴路) ✕ matplotlib (功率曲線) ✕ Pillow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📊 Office 行政自動化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python-pptx (簡報排版動畫) ✕ openpyxl / pandas (加權算分/學情統計)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🌐 瀏覽器巡航與協定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chrome-devtools-mcp (磨課師人機接力) ✕ selenium ✕ requests</a:t>
            </a:r>
          </a:p>
          <a:p>
            <a:pPr>
              <a:defRPr sz="1100" b="1">
                <a:solidFill>
                  <a:srgbClr val="6C757D"/>
                </a:solidFill>
                <a:latin typeface="微軟正黑體"/>
              </a:defRPr>
            </a:pPr>
            <a:r>
              <a:t>💡 免敲 CMD 指令！只要下達右側咒語，代理人即在背景自動配齊上述工具。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539496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 01：全自動環境健檢與裝備咒語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04288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請扮演我的「電腦教學環境裝備醫生」。我是一位剛接觸 AI 的零基礎老師，請幫我檢查並自動裝備好工作環境：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1. 檢查核心環境：Python 與 Node.js 是否已安裝就緒並回報版本？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2. 檢查 Git 工具：是否安裝 Git 版本控制（供後續推播 GitHub 網站使用）？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3. 檢查並自動安裝「教學必備套件庫」（若缺少請背景自動 pip install，免我開終端機）：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- Office 自動化：openpyxl、pandas、python-pptx、python-docx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- 專業電學與圖表：schemdraw（標準電路圖）、matplotlib（特性曲線）、pillow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4. 工作區讀寫測試：在當前目錄建立「健檢回報.txt」，並條列檢測狀態。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5. 完成後用親切繁體中文，以打勾 (✅) 方式回報所有裝備就緒清單！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09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初試啼聲：讓代理人自主在電腦建立第一份檔案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🎯 實作目標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體驗代理 AI 的「造物」能力！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觀察送出後：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1. AI 思考中（Thinking）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2. 工具調用（write_to_file）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3. 左側檔案清單跳出「研習簽到與教學備忘.txt」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4. 點開檔案，內容已真實存在硬碟中！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02：第一份自主建檔咒語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04288"/>
            <a:ext cx="6035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你好！我是 [請填寫學校：例如 大安高工 / 彰師附工] 的 [請填寫學科：例如 電子科 / 資訊科] 老師。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請在我們的工作資料夾中，幫我建立一個名為「研習簽到與教學備忘.txt」的檔案，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內容寫入：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今日日期與時間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研習主題：Antigravity 代理 AI 教學應用實戰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我的教學願景：期許用 AI 幫自己每週省下 3 小時備課時間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給老師的一句備課激勵金句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建立完成後，請告訴我檔案已儲存。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10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為什麼別人用 AI 像神仙，我用 AI 像智障？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BC4749"/>
                </a:solidFill>
                <a:latin typeface="微軟正黑體"/>
              </a:defRPr>
            </a:pPr>
            <a:r>
              <a:t>❌ 失敗指令：隨意說一句話</a:t>
            </a:r>
          </a:p>
          <a:p>
            <a:pPr>
              <a:spcAft>
                <a:spcPts val="1400"/>
              </a:spcAft>
              <a:defRPr sz="1600" b="1">
                <a:solidFill>
                  <a:srgbClr val="2B2D42"/>
                </a:solidFill>
                <a:latin typeface="微軟正黑體"/>
              </a:defRPr>
            </a:pPr>
            <a:r>
              <a:t>「幫我出幾題基本電學題目。」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AI 不知道給技術高中哪一科、幾年級學生做（高一初學？統測複習？）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題目數值未經設計，常出現除不盡的繁雜小數，無法快速手算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缺乏電路化簡結構，沒有串並聯拆解步驟與戴維寧等效解析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老師還得花大量時間拿計算紙一題一題重新驗算電路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⭕ 大師級指令：結構化清晰下達</a:t>
            </a:r>
          </a:p>
          <a:p>
            <a:pPr>
              <a:spcAft>
                <a:spcPts val="1400"/>
              </a:spcAft>
              <a:defRPr sz="1350" b="1">
                <a:solidFill>
                  <a:srgbClr val="2B2D42"/>
                </a:solidFill>
                <a:latin typeface="微軟正黑體"/>
              </a:defRPr>
            </a:pPr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之求法，並標註學生常錯的短路/開路盲點），以 Markdown 表格呈現。」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角色清晰：鎖定技高電機電子群高一認知程度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數值友好：整數設計，避免繁雜小數干擾核心電路概念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解析嚴謹：完整列出戴維寧等效電路 (Rth, Vth) 逐步推導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產出即成果：一秒複製即可直接印成課堂隨堂評量卷！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11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實測對決 01：隨意指令慘遭開天窗 ✕ 大師指令電路圖化簡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937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4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C4749"/>
                </a:solidFill>
                <a:latin typeface="微軟正黑體"/>
              </a:defRPr>
            </a:pPr>
            <a:r>
              <a:t>❌ 隨意指令產出（真實車禍現場）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1：死背名詞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「什麼是歐姆定律？請寫出公式。」</a:t>
            </a:r>
            <a:br/>
            <a:r>
              <a:t>➔ 國中生都知道，完全沒有技高電阻網路評量價值。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2：數值極度不友善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「100V 電壓接 33Ω 電阻，求電流？」</a:t>
            </a:r>
            <a:br/>
            <a:r>
              <a:t>➔ 答案 I = 3.0303...A（無限循環小數，學生算到懷疑人生）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3：致命傷：電路開天窗！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「試求下圖電路的戴維寧等效電路。（註：此處無圖）❌」</a:t>
            </a:r>
            <a:br/>
            <a:r>
              <a:t>➔ AI 憑空說下圖，根本沒有圖！題目直接作廢！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老師下場：耗時重工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無選項、無推導步驟，老師還得花半小時拿計算紙手動重出重算！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83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大師指令產出：題 01 電阻串並聯化簡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【題幹】E = 24V，R1 = 6Ω 與 R2 = 12Ω 並聯後，再與 R3 = 8Ω 串聯。求 RT 與 IT？</a:t>
            </a:r>
            <a:br/>
            <a:r>
              <a:t>【選項】(A) RT=12Ω, IT=2A   (B) RT=14Ω, IT=1.7A   (C) RT=10Ω, IT=2.4A</a:t>
            </a:r>
          </a:p>
        </p:txBody>
      </p:sp>
      <p:pic>
        <p:nvPicPr>
          <p:cNvPr id="12" name="Picture 11" descr="circuit1_series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017520"/>
            <a:ext cx="5029200" cy="21779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349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(A) | 推導：R1//R2 = 4Ω ➔ RT = 4 + 8 = 12Ω ➔ IT = 24 / 12 = 2A（整數手算超順！）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常見盲點：學生易誤先算串聯 (6+12=18) 再並聯 8，詳解完整提示避免踩雷！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12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實測對決 02：戴維寧等效模型 ✕ 最大功率轉移曲線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題 02：戴維寧等效模型與負載分析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【題幹】開路電壓 Eth = 18V，等效電阻 Rth = 6Ω。外接負載 RL = 3Ω，求負載電流 IL？</a:t>
            </a:r>
          </a:p>
        </p:txBody>
      </p:sp>
      <p:pic>
        <p:nvPicPr>
          <p:cNvPr id="10" name="Picture 9" descr="circuit2_theve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4754880" cy="18556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53035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(B) 2A | 單迴路串聯：IL = 18 / (6 + 3) = 2A（正負整數好算）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防呆叮嚀：求 Rth 時獨立電壓源應「視為短路 (0V)」，學生常誤當開路！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題 03：戴維寧最大功率轉移特性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【題幹】Eth = 20V，Rth = 5Ω。求使負載獲最大功率之 RL 阻值與最大功率 PL(max)？</a:t>
            </a:r>
          </a:p>
        </p:txBody>
      </p:sp>
      <p:pic>
        <p:nvPicPr>
          <p:cNvPr id="14" name="Picture 13" descr="circuit3_max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26080"/>
            <a:ext cx="4754880" cy="2498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3035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(A) RL=5Ω, PL=20W | 公式：PL(max) = Eth² / (4*Rth) = 400 / 20 = 20W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防呆叮嚀：分母常忘乘係數 4，誤選 80W（選項 B 典型誘答陷阱）！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13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提示語大師核心公式：CRIS 萬用架構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C - Context（背景與角色）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設定 AI 的專業身分，以及面對的年級、學生程度與教學情境。</a:t>
            </a:r>
            <a:br/>
            <a:r>
              <a:t>例：『你是技高電機電子群名師，面對高一基本電學學生...』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C25E2E"/>
                </a:solidFill>
                <a:latin typeface="微軟正黑體"/>
              </a:defRPr>
            </a:pPr>
            <a:r>
              <a:t>R - Request（明確目標任務）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以動詞開頭，直接告訴 AI 最終要完成什麼工作。</a:t>
            </a:r>
            <a:br/>
            <a:r>
              <a:t>例：『請設計 3 題「電阻串並聯與戴維寧定理」分析試題...』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09F3E"/>
                </a:solidFill>
                <a:latin typeface="微軟正黑體"/>
              </a:defRPr>
            </a:pPr>
            <a:r>
              <a:t>I - Instructions（條件與限制規則）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限制難易度、題型、字數、避免提及的內容。</a:t>
            </a:r>
            <a:br/>
            <a:r>
              <a:t>例：『阻值與電壓需為整數、詳解含 Rth/Vth 步驟、標註常犯迷思...』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A89D"/>
                </a:solidFill>
                <a:latin typeface="微軟正黑體"/>
              </a:defRPr>
            </a:pPr>
            <a:r>
              <a:t>S - Style &amp; Format（風格與輸出格式）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指定輸出外觀，如 Markdown 表格、Word 檔、或 Excel 試算表。</a:t>
            </a:r>
            <a:br/>
            <a:r>
              <a:t>例：『以 Markdown 表格呈現，含題幹、選項、答案與詳解...』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14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代理人專用：下達「連續動作鏈 (Chain of Action)」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865376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10512"/>
            <a:ext cx="8961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1：讀取分析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範例指令：「先讀取工作區內的實習成績檔案，檢查各組實測數據是否有缺漏...」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328416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73552"/>
            <a:ext cx="8961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2：計算處理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範例指令：「接著依據加權標準計算每位同學總分，並標記需課後補救實習名單...」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791456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736592"/>
            <a:ext cx="8961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3：產出建檔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範例指令：「最後將計算後的完整表格存為新檔，並附上一段 200 字實習學情摘要。」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15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神級代理人：MCP 瀏覽器自動化 —— 人機接力與 1 鍵啟動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🤝 30 秒人機接力黃金法則</a:t>
            </a:r>
          </a:p>
          <a:p>
            <a:pPr>
              <a:spcAft>
                <a:spcPts val="1200"/>
              </a:spcAft>
              <a:defRPr sz="1600" b="1">
                <a:solidFill>
                  <a:srgbClr val="C25E2E"/>
                </a:solidFill>
                <a:latin typeface="微軟正黑體"/>
              </a:defRPr>
            </a:pPr>
            <a:r>
              <a:t>💡「資安歸老師，苦工歸 AI！」</a:t>
            </a:r>
          </a:p>
          <a:p>
            <a:pPr>
              <a:spcBef>
                <a:spcPts val="400"/>
              </a:spcBef>
              <a:defRPr sz="1500" b="1">
                <a:solidFill>
                  <a:srgbClr val="2B2D42"/>
                </a:solidFill>
                <a:latin typeface="微軟正黑體"/>
              </a:defRPr>
            </a:pPr>
            <a:r>
              <a:t>👤 老師親手做（前 30 秒免踩雷）：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1. 點兩下「啟動AI伴讀Chrome.bat」（遠端除錯埠 9222）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2. 親自登入教育雲 OpenID（免個資外洩、免驗證碼）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3. 點開課程第一單元，按一次播放鍵！</a:t>
            </a:r>
          </a:p>
          <a:p>
            <a:pPr>
              <a:spcBef>
                <a:spcPts val="400"/>
              </a:spcBef>
              <a:defRPr sz="1500" b="1">
                <a:solidFill>
                  <a:srgbClr val="2B2D42"/>
                </a:solidFill>
                <a:latin typeface="微軟正黑體"/>
              </a:defRPr>
            </a:pPr>
            <a:r>
              <a:t>🤖 AI 代理人接管（後 30 分鐘全代勞）：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0.5 秒自動代點「下一單元」微小按鈕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自動按掉「禁止多重視窗」等中斷警告彈窗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每 24 分鐘微暫停 5 秒重置防閒置計時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提示詞範本 03-A：生手「一鍵通」秒殺指令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04288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請使用 chrome-devtools-mcp 連接我目前開啟的 Chrome 瀏覽器：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1. 找到我正在播放研習影片的磨課師（或數位學習平臺）分頁。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2. 幫我監控影片進度：當前單元播完時，自動幫我點擊「下一單元」繼續播放。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3. 若畫面彈出「禁止多重視窗」或確認警示窗，請自動點擊「確定」排除。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4. 開始執行，並在每完成一個章節時向我回報！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16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生手一次就成功：全自動巡航 ✕ 突發狀況急救包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提示詞範本 03-B：大師級全自動巡航 CRIS 咒語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【角色】請扮演我的「數位研習全自動伴讀導航員」。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【情境】我已登入磨課師研習平臺（Chrome 9222 遠端除錯埠），畫面正停在課程播放頁。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【任務與執行規則】：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鎖定分頁：使用 list_pages 與 select_page 鎖定包含「moocs」或「elearning」課程分頁。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連播機制：以 1.0x 正常速度播放，影片播畢自動點擊「下一單元（nav_next）」。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防閒置破解：每播 24 分鐘自動微暫停 5 秒後恢復，重置 25/30 分鐘防閒置計時器。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4. 彈窗攔截：呼叫 handle_dialog，一旦有警告彈窗 0 秒點確定。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5. 持續巡航，並在右側記錄完成章節數與累積研習時數！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874519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🛠️ 研習現場突發狀況「急救包」</a:t>
            </a:r>
          </a:p>
          <a:p>
            <a:pPr>
              <a:spcAft>
                <a:spcPts val="10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遇到意外狀況？複製這幾句咒語貼上立即排除：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1：抓錯分頁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「請列出 Chrome 所有開啟分頁標題，並將焦點切換到磨課師課程那一頁。」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2：彈窗卡住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「畫面上跳出警告對話框，請呼叫 handle_dialog 幫我自動按確定關閉。」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3：按鈕微小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「請在當前網頁尋找包含『下一頁』或『下一單元』按鈕並點擊它。」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4：查詢進度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「請幫我查看當前課程的累計閱讀時數與完成進度百分比。」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17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Office 自動化第一彈：手動拉公式算成績的終結者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BC4749"/>
                </a:solidFill>
                <a:latin typeface="微軟正黑體"/>
              </a:defRPr>
            </a:pPr>
            <a:r>
              <a:t>傳統算成績的痛苦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總分、平均手動打 =SUM、=AVERAGE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不及格要一欄一欄篩選、改粉紅色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等第判定寫巢狀 =IF 寫到眼花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全班最高分、最低分還要再算一次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107C41"/>
                </a:solidFill>
                <a:latin typeface="微軟正黑體"/>
              </a:defRPr>
            </a:pPr>
            <a:r>
              <a:t>Antigravity 代理人解法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把原始資料給它，或直接模擬整班成績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AI 在背景自行執行演算法運算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自動標記不及格粉紅色底色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幾秒鐘直接產出格式化完成的 .xlsx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18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實戰演練：全自動班級成績統計與等第運算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9496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04：Excel 自動算成績大師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請扮演我的「教務與實習成績統計助理」。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任務：在工作區建立「高二電子科專業實習第一次段考成績表.xlsx」。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資料要求：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模擬 15 位技高學生名單（座號 1~15、學生姓名用王小明等假名），包含三項成績：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專業筆試 (占 30%)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示波器實作量測 (占 50%)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平時實習表現與工安規範 (占 20%)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自動計算：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每位學生「學期加權總分（四捨五入至小數第一位）」。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根據加權總分判定「等第」（90優/80甲/70乙/60丙/未滿60丁）。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實作或筆試未滿 60 分用醒目粉紅色底色標記。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表格最下方計算各項「全班平均」、「最高分」、「最低分」。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完成後儲存為 .xlsx 檔案並提供預覽。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4663440" cy="384048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📊 預期產出：高二電子科專業實習第一次段考成績表.xlsx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0" y="2331720"/>
          <a:ext cx="4663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731520"/>
                <a:gridCol w="731520"/>
                <a:gridCol w="731520"/>
                <a:gridCol w="100584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座號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筆試(30%)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實作(50%)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平時(20%)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加權/等第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王小明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89.4 (甲)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李小華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C4749"/>
                          </a:solidFill>
                          <a:latin typeface="微軟正黑體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65.5 (丙)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張大同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95.5 (優)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陳美麗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C4749"/>
                          </a:solidFill>
                          <a:latin typeface="微軟正黑體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60.6 (丙)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班平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全班平均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78.8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19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進階演練：成績深入學情分析與圖表自動生成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05：學情診斷與視覺化圖表生成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101498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請讀取剛剛建立的「高二電子科專業實習第一次段考成績表.xlsx」，進行深入學情分析：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1. 請繪製一張「實作成績分布級距長條圖」（以 10 分為一個級距），存成圖檔放入工作區。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2. 請列出分析摘要：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   - 班上實作前三名同學是誰？儀器操作亮點在哪？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   - 筆試或實作不及格人數各有幾位？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3. 請幫我寫一段 200 字左右的「技高專業實習學情檢討摘要」，適合直接複製到我的實習教學日誌或教學研究會報告中。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20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成果發布 01：免費帳號開立 ✕ 建立專屬倉庫 (www)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📝 步驟一：註冊個人 GitHub 帳號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1. 前往官網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瀏覽器打開 github.com，點右上角綠色「Sign up」。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2. 填寫三要素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輸入信箱（收驗證碼）➔ 設定高強度密碼 ➔ 決定 Username。</a:t>
            </a:r>
          </a:p>
          <a:p>
            <a:pPr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⭐ 命名即網址！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Username 會直接變成個人教學網站網址！例如簡老師為 stj580508，日後專屬站點即為 stj580508.github.io。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3. 驗證啟用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完成動物旋轉拼圖防偽驗證，收信填 8 位數驗證碼即可！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📂 步驟二：建立名為 www 的儲存庫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1. 點擊右上角「+」號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在 GitHub 畫面右上角點選「New repository」。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2. 倉庫名稱填寫 www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Repository name 輸入 www，代表個人教學首頁根目錄。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3. 務必勾選 Public（公開）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勾選 Public，其餘 README、.gitignore 保持預設空白免勾。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4. 點綠色按鈕建立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按下「Create repository」，取得網址：github.com/stj580508/www。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21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成果發布 02：產生個人安全金鑰 (Personal Access Token)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🔑 步驟三：為什麼不能用登入密碼？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🛡️ GitHub 資安規範升級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為防止密碼遭竊，GitHub 禁止終端機推播使用傳統密碼，必須改用 Personal Access Token (PAT)。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1. 前往金鑰設定頁面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瀏覽器前往 github.com/settings/tokens，點 Generate new token (classic)。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2. Note 填寫 antigravity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有效期限選 No expiration 或 30 天。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3. ⭐ 關鍵勾選 repo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請務必將第一個「repo」（倉庫完整存取）打勾！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4. 複製金鑰代碼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點擊最下方綠色按鈕，複製開頭為 ghp_ 的專屬權杖！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C25E2E"/>
                </a:solidFill>
                <a:latin typeface="微軟正黑體"/>
              </a:defRPr>
            </a:pPr>
            <a:r>
              <a:t>🔒 資安第一：金鑰遮罩防洩漏守則</a:t>
            </a:r>
          </a:p>
          <a:p>
            <a:pPr>
              <a:defRPr sz="1400" b="1">
                <a:solidFill>
                  <a:srgbClr val="BC4749"/>
                </a:solidFill>
                <a:latin typeface="微軟正黑體"/>
              </a:defRPr>
            </a:pPr>
            <a:r>
              <a:t>🚨 金鑰等同於您的臨時身分證！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任何人拿到您的 Token 都可以修改或覆寫您的雲端倉庫。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🙈 示範或講義中必須打馬賽克：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在簡報或公開錄影時，代碼必須做馬賽克遮罩處理：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   代碼示範：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token = 'ghp_████████████████████████████████'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⚡ 代理人自動化驗證機制：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只要在當次對話中將 Token 提供給 Antigravity，代理人即自主完成 Git 身分驗證並推播，無需存留硬碟明文檔案！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22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成果發布 03：代理人一鍵推播 ✕ GitHub Pages 上線 (Prompt 06)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📜 實戰提示詞 06：全自動推播咒語</a:t>
            </a:r>
          </a:p>
          <a:p>
            <a:pPr>
              <a:spcAft>
                <a:spcPts val="400"/>
              </a:spcAft>
              <a:defRPr sz="1200" b="1">
                <a:solidFill>
                  <a:srgbClr val="C25E2E"/>
                </a:solidFill>
                <a:latin typeface="微軟正黑體"/>
              </a:defRPr>
            </a:pPr>
            <a:r>
              <a:t>💡 可直接反白複製使用：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我已在 GitHub 建立好公開儲存庫：https://github.com/stj580508/www，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個人金鑰為 ghp_【貼上您的金鑰】。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請幫我執行以下自動化連續動作鏈：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將今日的「基本電學題庫與標準電路圖」做成簡老師個人網站版面 (index.html)。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將 index.html、circuits/ 與 PPTX 投影片 Commit 並推播到 main 分支。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呼叫 GitHub API 為我啟用 GitHub Pages 靜態伺服器！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4. 回報我最終公開上線的個人教學網站網址！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C25E2E"/>
                </a:solidFill>
                <a:latin typeface="微軟正黑體"/>
              </a:defRPr>
            </a:pPr>
            <a:r>
              <a:t>🎉 成果大功告成：全世界隨點隨看！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🌐 官方專屬上線網址：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👉 https://stj580508.github.io/www/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📘 專屬教學專頁已上線：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👉 https://stj580508.github.io/www/github_tutorial.html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📱 行動學習亮點：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無論用手機、平板或智慧黑板，掃描 QR Code 就能即時檢視互動題庫與標準電路圖！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⚡ 代理 AI 革命性價值：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老師完全不用敲複雜終端機指令，自然語言即可完成「備課 ➔ 出題 ➔ 繪圖 ➔ 網頁化 ➔ 雲端發布」一條龍！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研習總結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23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今日收穫總結 ＆ 下週第二場精彩預告！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🎉 今日已解鎖技能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完成 Antigravity 工作區建置與沙盒安全檢測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掌握零代碼一鍵自動安裝 Python/Excel 套件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掌握基本電學電阻網路分析之結構化命題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親歷電路圖文並茂 vs 開天窗之實測對比震撼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 MCP 磨課師自動化：人機接力與急救包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實戰 Excel 自動算技高加權成績與學情分析圖表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 GitHub 免費註冊 ✕ 成果一鍵轉網頁推播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🔥 下週第二場重頭戲預告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🌐 零程式碼做網頁：一句話做出「課堂隨機抽籤輪盤」與「自動計分測驗互動網頁」！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🎬 AI 做簡報與做影片：教案一鍵轉 PPT，再自動配語音旁白做成微課教學影片！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👥 多代理人協同備課：讓兩個 AI 一個出題、一個挑錯審查！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🎁 課後任務：試著將自己的教材或題庫推上 GitHub，下週開場互相觀摩！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第七單元：高階實戰特輯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24 / 27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【高階實戰案例】虛擬電子儀表 ✕ 丙級試題二模擬系統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🎯 純前端單檔教學模擬器 (instrument.html)</a:t>
            </a:r>
          </a:p>
          <a:p>
            <a:pPr>
              <a:spcAft>
                <a:spcPts val="800"/>
              </a:spcAft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⚡ 整合 GDS-2102E 示波器 ＆ MFG-2110 任意波形信號產生器</a:t>
            </a:r>
          </a:p>
          <a:p>
            <a:pPr>
              <a:spcAft>
                <a:spcPts val="800"/>
              </a:spcAft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🔌 一鍵連線測試：自動接線、通電、開輸出並 Autoset 展開最佳波形</a:t>
            </a:r>
          </a:p>
          <a:p>
            <a:pPr>
              <a:spcAft>
                <a:spcPts val="800"/>
              </a:spcAft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🔒 靜態觸發鎖定：徹底解決高頻正弦波滾動問題，穩定清晰</a:t>
            </a:r>
          </a:p>
          <a:p>
            <a:pPr>
              <a:spcAft>
                <a:spcPts val="800"/>
              </a:spcAft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🎬 10 步驟全自動教學導航：每 3.5s 計時自動模擬實機按鍵動作</a:t>
            </a:r>
          </a:p>
          <a:p>
            <a:pPr>
              <a:spcAft>
                <a:spcPts val="800"/>
              </a:spcAft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📝 台灣工業電子丙級術科試題二：12 題組電路模擬與自動評分扣分</a:t>
            </a:r>
          </a:p>
          <a:p>
            <a:pPr>
              <a:spcAft>
                <a:spcPts val="800"/>
              </a:spcAft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💡 零外部相依：純 SVG 手繪面板 ✕ Canvas 繪圖，完全離線可用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0876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120640" cy="23709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5303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5E2E"/>
                </a:solidFill>
                <a:latin typeface="微軟正黑體"/>
              </a:defRPr>
            </a:pPr>
            <a:r>
              <a:t>▲ 實機操作：信號產生器直連示波器 CH1，鎖定 Trig'd 靜態波形與 18px 黃色大字體 Measure 讀數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第七單元：高階實戰特輯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25 / 27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工程級教具的底層靈魂：依據三大官方資料手冊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📚 三大官方標準與物理模型</a:t>
            </a:r>
          </a:p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🔹 1. GW INSTEK GDS-2000E 使用手冊</a:t>
            </a:r>
          </a:p>
          <a:p>
            <a:pPr>
              <a:spcAft>
                <a:spcPts val="6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垂直 1-2-5 序列、時基擴展、2Vpp 1kHz 校驗方波暫態過沖公式：ΔV(t)=c×0.8×exp(-t/40µs)</a:t>
            </a:r>
          </a:p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🔹 2. GW INSTEK MFG-2000 原廠手冊</a:t>
            </a:r>
          </a:p>
          <a:p>
            <a:pPr>
              <a:spcAft>
                <a:spcPts val="6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輸出阻抗 50Ω 負載效應模型：接示波器(1MΩ)端電壓放大 2 倍(設 3V 實出 6V)，High Z 則為 1 倍</a:t>
            </a:r>
          </a:p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🔹 3. 工業電子丙級試題二規範 (02800-960302)</a:t>
            </a:r>
          </a:p>
          <a:p>
            <a:pPr>
              <a:spcAft>
                <a:spcPts val="6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正弦波 1kHz 3Vpp 50Ω、探棒開關 1:1、DC 耦合；12 題組 ±10% 容許度與零點偏移扣分規準</a:t>
            </a:r>
          </a:p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🔹 4. 全系統自動驗收腳本 (runAutoAudit)</a:t>
            </a:r>
          </a:p>
          <a:p>
            <a:pPr>
              <a:spcAft>
                <a:spcPts val="6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內建 10 項驗收指標，單檔離線開立即可自我檢查合格！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0876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120640" cy="23709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5303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25E2E"/>
                </a:solidFill>
                <a:latin typeface="微軟正黑體"/>
              </a:defRPr>
            </a:pPr>
            <a:r>
              <a:t>▲ 網頁內建【提示語與教學手冊】分頁：附帶一鍵複製提示語與 10 項標準即時自動稽核報告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第七單元：高階實戰特輯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26 / 27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📌【實戰提示詞範本 08】儀表模擬器 Master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43891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💡 五大工程級提示語心法</a:t>
            </a:r>
          </a:p>
          <a:p>
            <a:pPr>
              <a:defRPr sz="1200" b="1">
                <a:solidFill>
                  <a:srgbClr val="C25E2E"/>
                </a:solidFill>
                <a:latin typeface="微軟正黑體"/>
              </a:defRPr>
            </a:pPr>
            <a:r>
              <a:t>1. [ROLE] 角色雙重錨定</a:t>
            </a:r>
          </a:p>
          <a:p>
            <a:pPr>
              <a:spcAft>
                <a:spcPts val="5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資工全端工程師 ＋ 金牌電子科實習指導教師，兼具代碼力與教學力。</a:t>
            </a:r>
          </a:p>
          <a:p>
            <a:pPr>
              <a:defRPr sz="1200" b="1">
                <a:solidFill>
                  <a:srgbClr val="C25E2E"/>
                </a:solidFill>
                <a:latin typeface="微軟正黑體"/>
              </a:defRPr>
            </a:pPr>
            <a:r>
              <a:t>2. [WORKFLOW] 先計畫再代碼</a:t>
            </a:r>
          </a:p>
          <a:p>
            <a:pPr>
              <a:spcAft>
                <a:spcPts val="5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強制要求先產出 Plan Artifact，確認無誤後才動手寫程式。</a:t>
            </a:r>
          </a:p>
          <a:p>
            <a:pPr>
              <a:defRPr sz="1200" b="1">
                <a:solidFill>
                  <a:srgbClr val="C25E2E"/>
                </a:solidFill>
                <a:latin typeface="微軟正黑體"/>
              </a:defRPr>
            </a:pPr>
            <a:r>
              <a:t>3. [MANUALS] 公式即規範</a:t>
            </a:r>
          </a:p>
          <a:p>
            <a:pPr>
              <a:spcAft>
                <a:spcPts val="5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直接貼入負載效應倍率、探棒過沖公式與檢定配分，AI 絕不瞎猜。</a:t>
            </a:r>
          </a:p>
          <a:p>
            <a:pPr>
              <a:defRPr sz="1200" b="1">
                <a:solidFill>
                  <a:srgbClr val="C25E2E"/>
                </a:solidFill>
                <a:latin typeface="微軟正黑體"/>
              </a:defRPr>
            </a:pPr>
            <a:r>
              <a:t>4. [CONSTRAINTS] 極致硬性約束</a:t>
            </a:r>
          </a:p>
          <a:p>
            <a:pPr>
              <a:spcAft>
                <a:spcPts val="5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單檔 HTML 內嵌、離線執行、零外部相依、無障礙觸控 ≥40px。</a:t>
            </a:r>
          </a:p>
          <a:p>
            <a:pPr>
              <a:defRPr sz="1200" b="1">
                <a:solidFill>
                  <a:srgbClr val="C25E2E"/>
                </a:solidFill>
                <a:latin typeface="微軟正黑體"/>
              </a:defRPr>
            </a:pPr>
            <a:r>
              <a:t>5. [ACCEPTANCE] 自動稽核機制</a:t>
            </a:r>
          </a:p>
          <a:p>
            <a:pPr>
              <a:spcAft>
                <a:spcPts val="500"/>
              </a:spcAft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要求提供 runAutoAudit() 自動檢查，以程式驗證程式！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508760"/>
            <a:ext cx="61264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09F3E"/>
                </a:solidFill>
                <a:latin typeface="Consolas"/>
              </a:defRPr>
            </a:pPr>
            <a:r>
              <a:t>💻 完整提示語核心代碼（可於網頁直接一鍵複製）：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[ROLE]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你是一位精通「電子量測儀器模擬」與「台灣工業電子檢定」的資深全端工程師兼實習指導教師。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[TASK]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請製作單一檔案、高度擬真的互動教學網頁 instrument.html：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1. GW INSTEK GDS-2102E 示波器 ＆ MFG-2110 任意波形信號產生器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2. 工業電子丙級試題二電路板量測與 12 題組除錯模擬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[MANUAL_REFERENCES]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1. GDS-2000E 手冊：垂直1-2-5序列、時基序列、2V方波過沖公式、靜態觸發鎖定。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2. MFG-2000 手冊：50Ω負載效應(接示波器實出2倍電壓)、 High Z為1倍。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3. 丙級試題二：正弦波 1kHz 3Vpp 50Ω、探棒1:1、DC耦合、12題組評分規準。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[HARD_CONSTRAINTS]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- 輸出單檔 instrument.html (純內嵌 CSS/SVG/JS，無外部CDN與字型)。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- 頂部提供【🔌 一鍵測試：信號產生器 ➔ 示波器 CH1】快捷操作。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- 靜態觸發鎖定：Trig'd 時鎖定正向過零相位，波形完全靜止清晰。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- 雙指引卡 10 步驟全自動播放教學引擎 (3.5s/步 連動實機按鈕)。</a:t>
            </a:r>
          </a:p>
          <a:p>
            <a:pPr>
              <a:defRPr sz="950">
                <a:solidFill>
                  <a:srgbClr val="F1F5F9"/>
                </a:solidFill>
                <a:latin typeface="Consolas"/>
              </a:defRPr>
            </a:pPr>
            <a:r>
              <a:t>- 提供 window.runAutoAudit() 實施 10 項標準自動化檢驗。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第七單元：高階實戰特輯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27 / 27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教師的思維升級：從辦公自動化走向「專題級課程開發」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🚀 三大關鍵教具開發心態</a:t>
            </a:r>
          </a:p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🧩 模組化規格思維</a:t>
            </a:r>
          </a:p>
          <a:p>
            <a:pPr>
              <a:spcAft>
                <a:spcPts val="800"/>
              </a:spcAft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AI 不是魔術，AI 需要精準的「規格說明書」。懂得定義功能邊界，AI 就能打造工程級作品。</a:t>
            </a:r>
          </a:p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🔬 公式即代碼規範</a:t>
            </a:r>
          </a:p>
          <a:p>
            <a:pPr>
              <a:spcAft>
                <a:spcPts val="800"/>
              </a:spcAft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把課本與原廠手冊公式寫進 Prompt，AI 就能做出物理級高擬真教具，不再只是玩具。</a:t>
            </a:r>
          </a:p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🌟 人人皆能打造專屬教具</a:t>
            </a:r>
          </a:p>
          <a:p>
            <a:pPr>
              <a:spcAft>
                <a:spcPts val="800"/>
              </a:spcAft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不需等待廠商開發！只要您具備學科專業＋下對 Prompt，每門實習課都能擁有專屬線上實驗室！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🎓 研習總結金句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「AI 不會取代老師，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但善用代理 AI 開發教具的老師，</a:t>
            </a:r>
          </a:p>
          <a:p>
            <a:pPr>
              <a:spcAft>
                <a:spcPts val="400"/>
              </a:spcAft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將徹底點亮學生的學習視野！」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下週第二場見！我們將挑戰：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• 零程式碼製作課堂隨機抽籤與計分遊戲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• 一鍵產出教案、PPT 並自動配音錄製微課！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