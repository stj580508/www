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微軟正黑體"/>
              </a:defRPr>
            </a:pPr>
            <a:r>
              <a:t>ESP32 與 MQTT 智慧控制教學實戰</a:t>
            </a:r>
          </a:p>
          <a:p>
            <a:pPr>
              <a:spcAft>
                <a:spcPts val="2800"/>
              </a:spcAft>
              <a:defRPr sz="2000">
                <a:solidFill>
                  <a:srgbClr val="0284C7"/>
                </a:solidFill>
                <a:latin typeface="微軟正黑體"/>
              </a:defRPr>
            </a:pPr>
            <a:r>
              <a:t>感測器探索 ‧ 四按鈕碼表 ‧ MQTT 雲端遙控 ‧ AI 視覺辨識連動</a:t>
            </a:r>
          </a:p>
          <a:p>
            <a:pPr>
              <a:defRPr sz="1400">
                <a:solidFill>
                  <a:srgbClr val="C8D7EB"/>
                </a:solidFill>
                <a:latin typeface="微軟正黑體"/>
              </a:defRPr>
            </a:pPr>
            <a:r>
              <a:t>課程解析整理與教師教學講義 / 投影片模組</a:t>
            </a:r>
            <a:br/>
            <a:r>
              <a:t>主講課程精華：簡樹桐 老師 ｜ 適用：高中職專題製作 ‧ 物聯網實習 ‧ AI 應用實作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課程全景：ESP32 ✕ 物聯網 MQTT ✕ 視覺 AI 的系統整合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🚀 專題學習核心思維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陌生物件不要怕：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拿到完全沒看過的感測器（如 BME280），不需死記暫存器，直接問 AI 腳位定義、接線與讀取程式。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硬體插拔防呆：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杜邦線與 Type-C 必須『水平插拔』，禁止往上撩掰，避免接頭折斷與針腳損壞。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Agent 自動執行設定：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在開發環境將終端命令設定為 Allow / Always Proceed，免去每次按確認的干擾。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從邊緣到雲端：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循序實作『本機感測 ➔ 本機四按鈕控制 ➔ MQTT 雲端手機遙控 ➔ AI 鏡頭視覺連動』四階段。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📚 三大核心實作單元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第 01 節課：ESP32 與感測器電路實作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BME280 溫濕度大氣壓感測器、I2C 協定、OLED 即時顯示與 AI 代理人安全設定。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第 02 節課：MQTT 協定與手機 App 智慧控制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四按鈕碼表電路、MQTT Broker (mqttgo.io:1883)、IoT MQTT Panel 手機 App 雙向發布與訂閱。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第 03 節課：AI 視覺影像辨識初探與連動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USB 攝影機環境、YOLO 物件/骨架/分割三合一模式、畫面各類別總數即時統計與截圖除錯。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01 節課】ESP32 環境建置、BME 感測器與 OLED 顯示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🎯 學習目標與硬體防護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AI 代理人權限配置：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將安全層級設為 Custom，Outside of Project 設為 Allow，命令執行設為 Always Proceed。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硬體插拔防損原則：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Type-C 與模組排針必須平行施力，嚴禁向上向下折彎，避免損壞昂貴板卡。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BME280 感測器原理：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整合式環境晶片，具備溫度、相對濕度與大氣壓力 (hPa) 測量。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I2C 匯流排並聯：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ESP32 預設 I2C 腳位（SCL: GPIO 22, SDA: GPIO 21），可並聯多個 I2C 設備（0x76 與 0x3C）。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🔌 接線腳位對照表 (Pinout)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BME280 SCL ➔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ESP32 GPIO 22（I2C 時脈線）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BME280 SDA ➔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ESP32 GPIO 21（I2C 數據線）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OLED SCL / SDA ➔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並聯至 GPIO 22 / 21（共用匯流排）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電源供應 ➔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3.3V 與 GND 接至 ESP32 對應供電腳位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成果反饋 ➔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OLED 畫面上即時輪播 Temp (23.7°C)、Humi (45.6%)、Pres (994.1 hPa)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01 節課】陌生感測器上手 ＆ OLED 顯示 Prompt 提示語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(Prompt)：陌生感測器快速探索與引導 Prompt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onsolas"/>
              </a:rPr>
              <a:t>「我手邊有一顆陌生的感測模組，上面標示『BME』，腳位有 VCC, GND, SCL, SDA。
請扮演資深物聯網硬體導師：
1. 告訴我這顆感測器主要能測量哪些物理量？（例如溫濕度、大氣壓力）
2. 我使用的是 ESP32 實驗板，請告訴我如何將它與 I2C 腳位（GPIO 21, 22）進行實體接線？
3. 請使用 MicroPython 撰寫一段簡單的掃描 I2C 位址（i2c.scan()）與數值讀取測試代碼。」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教師引導技巧：拿到任何不知名零件時，引導學生不要停滯，第一時間向 AI 詢問定義與引腳接法。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(Prompt)：BME280 數值讀取並即時顯示於 OLED 螢幕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onsolas"/>
              </a:rPr>
              <a:t>「請替 ESP32 撰寫 MicroPython 程式：
1. 同時驅動 BME280 感測器與 0.96 吋 SSD1306 OLED 螢幕（兩者皆接在 I2C: SCL 22, SDA 21）。
2. 每隔 1 秒讀取一次環境數值，並在 OLED 螢幕上清晰顯示三行數據：
   - 第一行：『Temp: XX.X C』
   - 第二行：『Humi: XX.X %』
   - 第三行：『Pres: XXXX.X hPa』
3. 包含完整例外防呆機制（若讀取失敗顯示 'Sensor Error'，不可當機閃退）。」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教師引導技巧：讓學生觀察 I2C 匯流排並聯的優點：兩條訊號線即可同時掛載感測器與螢幕。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02 節課】四按鈕碼表電路 ＆ MQTT 雲端智慧控制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⏱️ 四按鈕碼表系統設計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按鈕低電位動作 (Active Low)：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按鈕未按下為 3.3V 高電位，按下時導通接地 (GND) 為 0V 低電位，啟用內部上拉電阻 (PULL_UP)。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四按鈕腳位分配：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PB1 (GPIO 14), PB2 (GPIO 27), PB3 (GPIO 26), PB4 (GPIO 25)。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按鈕功能定義：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PB1: 開始/暫停 (Start/Pause)；PB2: 計圈 (Lap)；PB3: 歸零 (Reset)；PB4: 畫面模式切換。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OLED 即時刷新：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以毫秒級精度更新計時器，避免阻塞式延遲 (`time.sleep`)，採用非同步或定時器中斷。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☁️ MQTT 雲端物聯網連線三要素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Broker 伺服器：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使用免費公開伺服器 `mqttgo.io`（不可打錯）。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通訊埠 (Port)：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`1883`（標準非加密 TCP 傳輸協定）。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Client ID 與 Topic：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Client ID 自訂唯一名稱（避免撞名斷線），Topic 如 `school/esp32/control` 與 `school/esp32/status`。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手機 App 配對：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安裝 **IoT MQTT Panel** App，建立按鈕發布開關指令，並訂閱 ESP32 傳回的計時或狀態訊息。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02 節課】四按鈕碼表 ＆ MQTT 雲端雙向通訊 Prompt 提示語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(Prompt)：四按鈕低電位動作之 OLED 碼表控制程式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onsolas"/>
              </a:rPr>
              <a:t>「請替 ESP32 編寫一個功能完備的 MicroPython 碼表程式：
1. 硬體配置：0.96 吋 OLED (I2C: 21, 22)，四顆實體按鈕接在 GPIO 14, 27, 26, 25（啟用內部 PULL_UP，低電位觸發）。
2. 按鈕邏輯：
   - PB1 (GPIO 14)：開始計時 / 暫停計時
   - PB2 (GPIO 27)：記錄當前圈數時間 (Lap Time)
   - PB3 (GPIO 26)：碼表歸零 (Reset)
   - PB4 (GPIO 25)：切換主畫面與歷史圈數列表
3. 需具備軟體防彈跳 (Debounce) 機制，確保按鍵靈敏且不重送。」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教師引導技巧：讓學生體驗實體 UI 按鍵互動，並理解硬體內部上拉電阻的軟體宣告語法。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(Prompt)：ESP32 連線 MQTT Broker (mqttgo.io) 雲端遙控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onsolas"/>
              </a:rPr>
              <a:t>「請編寫 ESP32 MicroPython 程式，結合 Wi-Fi 與 MQTT 協定：
1. 連線至 Wi-Fi（SSID 與密碼），連線成功後在 OLED 顯示配發的 IP。
2. 連接至 MQTT 伺服器：Broker 網址為 'mqttgo.io'，Port 為 1883。
3. 訂閱主題 'school/stj/cmd'：若收到 'START' 啟動碼表計時，收到 'STOP' 停止，收到 'RESET' 歸零。
4. 發布主題 'school/stj/state'：每秒將當前碼表時間推播回 MQTT，供手機 IoT MQTT Panel 即時監看。
5. 請提供完整代碼與手機 App 儀表板設定指引。」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教師引導技巧：展示『物聯網雙向控制』：手機在雲端按按鈕，遠端的 ESP32 馬上同步動作！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03 節課】AI 視覺影像辨識初探與五步驟 SOP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👁️ AI 視覺辨識五步驟實作 SOP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步驟 1：硬體與環境檢查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確認 USB 攝影機正常插入，檢查 Python、OpenCV 與 Ultralytics 套件就緒。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步驟 2：三種核心模式切換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按 '1': 通用物件偵測 (80類)；按 '2': 人體姿態骨架 (Pose 17點)；按 '3': 語意實例分割 (Segmentation 去背)。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步驟 3：即時物件分類總數統計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辨識後不只畫方框，更要即時統計：人數、椅子數、杯子數、筆電數並顯示於畫面。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步驟 4：截圖除錯 (Screenshot Debug)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程式跑不出來不要猜，直接螢幕截圖貼給 AI，AI 立即閱讀症狀並執行修復！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步驟 5：專題延伸思考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思考如何將辨識結果（如手勢求救、走道有人）透過 MQTT 送到 ESP32 發出警報。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💡 簡老師的 AI 開發箴言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「我只動嘴巴就好了」：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只要你有 Idea 和清晰的邏輯，動嘴巴下達指令，AI 就會替你把程式碼生出來。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算力與解析度的取捨：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電腦有多核心跑得動，但若移植到邊緣小裝置，絕對不可開高解析度，夠用即可！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專案不要閉門造車：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先去看別人做過的專題，拿別人的架構過來改進為自己的方法，這才是 AI 時代的高效研發！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比賽與商品化思維：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從生活情境（如視障測距、紅綠燈辨識、家中手勢求救）切入，做出具有實用價值的完整系統。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【第 03 節課】三合一影像辨識 ＆ 物件即時統計 Prompt 提示語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(Prompt)：OpenCV + YOLO11 三合一模式切換與繁體中文標籤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onsolas"/>
              </a:rPr>
              <a:t>「請使用 Python、OpenCV 與 Ultralytics YOLO11 開發即時 WebCam 視覺程式：
1. 自動開啟相機串流，並支援鍵盤熱鍵動態切換三種模式：
   - 按 '1'：通用物件偵測模式（yolo11n.pt），偵測 80 種常見物品
   - 按 '2'：人體姿態骨架模式（yolo11n-pose.pt），繪製 17 處關節點骨架
   - 按 '3'：實例分割模式（yolo11n-seg.pt），繪製物體輪廓多邊形遮罩
2. 畫面文字標籤必須使用系統微軟正黑體顯示【繁體中文】（如：人、椅子、瓶子、筆記型電腦）。
3. 畫面左上角顯示當前模式名稱與即時 FPS 幀率，按 'q' 鍵退出。」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教師引導技巧：先讓學生感受 3 種不同 AI 模型的視覺威力，理解『物件、骨架、分割』在電腦視覺中的差異。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87952"/>
            <a:ext cx="102412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(Prompt)：現場物件類別數量即時統計與報表看板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onsolas"/>
              </a:rPr>
              <a:t>「請在上述 YOLO 辨識程式中新增【物件分類總數即時統計面板】：
1. 即時遍歷畫面中所有被偵測到的物件，統計各類別的出現數量（例如：人 x 5, 椅子 x 8, 杯子 x 2, 螢幕 x 3）。
2. 在畫面右上方半透明資訊欄中，由多到少即時列出統計清單與畫面總物件數。
3. 當偵測到『人』的數量發生變化時，在終端機印出警示日誌。
4. 代碼需優化推論速度，避免因統計運算導致畫面掉幀。」</a:t>
            </a:r>
          </a:p>
          <a:p>
            <a:r>
              <a:rPr sz="1100" i="1">
                <a:solidFill>
                  <a:srgbClr val="64748B"/>
                </a:solidFill>
                <a:latin typeface="微軟正黑體"/>
              </a:rPr>
              <a:t>📌 教師引導技巧：這是人流計數、自駕辨識與智慧門禁的基礎，讓學生體會從『視覺畫方框』昇華為『數據分析』。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物聯網與 AI 整合架構 ＆ 課堂避坑指南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🌐 虛實整合系統架構 (IoT + AI Flow)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1. 視覺感知端：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WebCam 透過 YOLO 辨識出特定物件（例如未戴安全帽、有人倒地或特定手勢）。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2. 雲端傳輸端：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Python 腳本將事件打包為 JSON，透過 MQTT 發布至 `mqttgo.io`。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3. 邊緣執行端：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ESP32 訂閱主題，接收到訊息後立即驅動蜂鳴器發出警報，或在 OLED 上顯示警示。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4. 手機監控端：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教師或管理員手機透過 IoT MQTT Panel 收到推播通知與狀態回饋。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⚠️ 現場環境避雷秘笈 (Troubleshooting)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杜邦線與排針不要往上撩：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插拔請保持水平，垂直用力，避免排針彎折或 Type-C 接頭鬆脫。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MQTT Broker 拼字不要錯：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伺服器必須是 `mqttgo.io`，不可少打點或打錯字母，埠號為 1883。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Client ID 衝突導致閃退：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若兩位同學用同一個 Client ID 連線，伺服器會踢掉前一人造成頻繁斷線，請加上座號區分！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AI 語意除錯善用截圖：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當程式有 Bug 但不知原因時，直接把畫面截圖給 AI，AI 讀圖診斷修復率高達 90%！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微軟正黑體"/>
              </a:defRPr>
            </a:pPr>
            <a:r>
              <a:t>ESP32 ✕ 物聯網 MQTT ✕ 邊緣 AI 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教師專用：ESP32 ✕ MQTT ✕ AI 課堂 Prompt 速查錦囊卡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微軟正黑體"/>
              </a:defRPr>
            </a:pPr>
            <a:r>
              <a:t>📌 複製即用：四階段實作指令庫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階段一【感測器與 OLED】：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「我是高職學生，使用 ESP32 與 MicroPython。請教我如何接線並讀取 BME280 溫濕度大氣壓感測器，並將數值即時顯示於 0.96 吋 I2C OLED 螢幕上。」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階段二【四按鈕碼表實作】：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「請使用 MicroPython 為 ESP32 撰寫一個碼表，使用 4 顆低電位按鈕（GPIO 14, 27, 26, 25，內建上拉），實現開始、暫停、計圈、歸零，並於 OLED 顯示。」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階段三【MQTT 雲端手機控制】：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「請教我用 MicroPython 連上 Wi-Fi 與 MQTT 伺服器 mqttgo.io (Port 1883)，手機使用 IoT MQTT Panel 發布指令開關 LED，並將感測數值定期推播回手機。」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階段四【AI 視覺與多模式切換】：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「請使用 Python OpenCV 與 YOLO11 輕量模型，做一個相機程式：按 1 切換物件偵測、按 2 切換骨架姿勢、按 3 切換去背分割，並即時統計畫面中所有物件總數量。」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  <a:latin typeface="微軟正黑體"/>
              </a:rPr>
              <a:t>萬能【除錯修復指令】： </a:t>
            </a:r>
            <a:r>
              <a:rPr b="0" sz="1300">
                <a:solidFill>
                  <a:srgbClr val="64748B"/>
                </a:solidFill>
                <a:latin typeface="微軟正黑體"/>
              </a:rPr>
              <a:t>「每次開發完程式，請做程式功能的自我檢核，若有報錯或異常請直接修正代碼並提供修正說明。」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物聯網與 AI 專題：讓學生從感測器出發，串聯雲端與人工智慧</a:t>
            </a:r>
          </a:p>
          <a:p>
            <a:pPr>
              <a:spcAft>
                <a:spcPts val="3000"/>
              </a:spcAft>
              <a:defRPr sz="1700">
                <a:solidFill>
                  <a:srgbClr val="0284C7"/>
                </a:solidFill>
                <a:latin typeface="微軟正黑體"/>
              </a:defRPr>
            </a:pPr>
            <a:r>
              <a:t>「不需死背接線與暫存器，善用 AI 與清晰架構，</a:t>
            </a:r>
            <a:br/>
            <a:r>
              <a:t>每位學生都能在一堂課內實現感測、雲端推播與 AI 視覺聯網的完整作品！」</a:t>
            </a:r>
          </a:p>
          <a:p>
            <a:pPr>
              <a:defRPr sz="1400" i="1">
                <a:solidFill>
                  <a:srgbClr val="D97706"/>
                </a:solidFill>
                <a:latin typeface="微軟正黑體"/>
              </a:defRPr>
            </a:pPr>
            <a:r>
              <a:t>💡 完整課程講義 Markdown 與獨立網頁已同步發布至 stjedu.github.io/www，歡迎直接取用！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