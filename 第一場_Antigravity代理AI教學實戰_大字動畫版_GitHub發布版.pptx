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開場說辭：各位老師好！今天這場研習我們不講生澀難懂的程式碼，重點只有一個：讓 AI 成為每天幫你備課、算加權成績、自動修完研習的實習老師，今天下課前大家都能產出實質成果！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285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193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601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09F3E"/>
                </a:solidFill>
                <a:latin typeface="微軟正黑體"/>
              </a:defRPr>
            </a:pPr>
            <a:r>
              <a:t>🌿 ANTIGRAVITY 代理 AI 於教學上的應用研習（第一場）</a:t>
            </a:r>
          </a:p>
          <a:p>
            <a:pPr>
              <a:spcAft>
                <a:spcPts val="1800"/>
              </a:spcAft>
              <a:defRPr sz="4400" b="1">
                <a:solidFill>
                  <a:srgbClr val="FAF7F2"/>
                </a:solidFill>
                <a:latin typeface="微軟正黑體"/>
              </a:defRPr>
            </a:pPr>
            <a:r>
              <a:t>打通任督二脈：</a:t>
            </a:r>
            <a:br/>
            <a:r>
              <a:t>從對話到代理執行 ✕ MCP ✕ 成績自動化</a:t>
            </a:r>
          </a:p>
          <a:p>
            <a:pPr>
              <a:defRPr sz="2000">
                <a:solidFill>
                  <a:srgbClr val="DAE2DB"/>
                </a:solidFill>
                <a:latin typeface="微軟正黑體"/>
              </a:defRPr>
            </a:pPr>
            <a:r>
              <a:t>環境巡檢建置 ✕ 提示語大師（Prompt Master）心法 ✕ 磨課師 MCP 自動化 ✕ Excel 成績加權實戰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48640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4C3B9"/>
                </a:solidFill>
                <a:latin typeface="微軟正黑體"/>
              </a:defRPr>
            </a:pPr>
            <a:r>
              <a:t>🎯 研習對象：中小學與高中職教師（零基礎友善）  |  ⏱️ 研習時長：180 分鐘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研習導覽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02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今日研習大綱與學習地圖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5212080" cy="109728"/>
          </a:xfrm>
          <a:prstGeom prst="round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單元 01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代理 AI 觀念啟蒙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顧問 vs. 實習老師，跨時代的能力躍升與三大超能力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212080" cy="10972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單元 02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環境建置與安全檢測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AI 數位辦公桌建立、沙盒機制保障、零代碼一鍵安裝工具庫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5212080" cy="109728"/>
          </a:xfrm>
          <a:prstGeom prst="roundRect">
            <a:avLst/>
          </a:prstGeom>
          <a:solidFill>
            <a:srgbClr val="E09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60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09F3E"/>
                </a:solidFill>
                <a:latin typeface="微軟正黑體"/>
              </a:defRPr>
            </a:pPr>
            <a:r>
              <a:t>單元 03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提示語大師 ✕ MCP 自動化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CRIS 架構、電阻網路圖文實測對決、磨課師自動修課助手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212080" cy="109728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160520"/>
            <a:ext cx="45720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7C41"/>
                </a:solidFill>
                <a:latin typeface="微軟正黑體"/>
              </a:defRPr>
            </a:pPr>
            <a:r>
              <a:t>單元 04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2000" b="1">
                <a:solidFill>
                  <a:srgbClr val="2B2D42"/>
                </a:solidFill>
                <a:latin typeface="微軟正黑體"/>
              </a:defRPr>
            </a:pPr>
            <a:r>
              <a:t>Excel 算成績全自動化</a:t>
            </a:r>
          </a:p>
          <a:p>
            <a:pPr>
              <a:lnSpc>
                <a:spcPct val="130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紙本隨手記秒轉 Excel、加權算分、及格粉紅標記、學情圖表分析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03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老師日常的三大行政與教學痛點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645920"/>
            <a:ext cx="3383280" cy="146304"/>
          </a:xfrm>
          <a:prstGeom prst="round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📝 改考卷與算成績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手動拉 Excel 函數</a:t>
            </a:r>
            <a:br/>
            <a:r>
              <a:t>段考平時加權算到眼花</a:t>
            </a:r>
            <a:br/>
            <a:r>
              <a:t>不及格篩選改色耗費數小時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383280" cy="146304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🌐 每年必修研習折磨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磨課師/酷課雲必修幾十小時</a:t>
            </a:r>
            <a:br/>
            <a:r>
              <a:t>每 20 分鐘彈窗防閒置中斷</a:t>
            </a:r>
            <a:br/>
            <a:r>
              <a:t>播完不跳下一單元，被迫當點擊工人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3832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20" y="1645920"/>
            <a:ext cx="3383280" cy="146304"/>
          </a:xfrm>
          <a:prstGeom prst="round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11680"/>
            <a:ext cx="2834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2B2D42"/>
                </a:solidFill>
                <a:latin typeface="微軟正黑體"/>
              </a:defRPr>
            </a:pPr>
            <a:r>
              <a:t>🧠 剛入門的提示語焦慮</a:t>
            </a:r>
          </a:p>
          <a:p>
            <a:pPr>
              <a:lnSpc>
                <a:spcPct val="140000"/>
              </a:lnSpc>
              <a:defRPr sz="1600">
                <a:solidFill>
                  <a:srgbClr val="6C757D"/>
                </a:solidFill>
                <a:latin typeface="微軟正黑體"/>
              </a:defRPr>
            </a:pPr>
            <a:r>
              <a:t>面對空白對話框不知道怎麼說</a:t>
            </a:r>
            <a:br/>
            <a:r>
              <a:t>隨便問一句回答空洞又無效</a:t>
            </a:r>
            <a:br/>
            <a:r>
              <a:t>不知道如何下達具體執行規格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04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從「對話問答」到「自主辦事」的跨時代躍升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6C757D"/>
                </a:solidFill>
                <a:latin typeface="微軟正黑體"/>
              </a:defRPr>
            </a:pPr>
            <a:r>
              <a:t>傳統對話 AI（ChatGPT 等）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700" b="1">
                <a:solidFill>
                  <a:srgbClr val="C25E2E"/>
                </a:solidFill>
                <a:latin typeface="微軟正黑體"/>
              </a:defRPr>
            </a:pPr>
            <a:r>
              <a:t>就像一位【顧問】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只動嘴巴回答，不動手做事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產出散落對話框，需手動複製貼上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單次問答，無法連續跨檔案操作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需要人盯著螢幕一步一步追問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5F9F6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1F4435"/>
                </a:solidFill>
                <a:latin typeface="微軟正黑體"/>
              </a:defRPr>
            </a:pPr>
            <a:r>
              <a:t>Antigravity 代理人 (Agent)</a:t>
            </a:r>
          </a:p>
          <a:p>
            <a:pPr>
              <a:spcBef>
                <a:spcPts val="400"/>
              </a:spcBef>
              <a:spcAft>
                <a:spcPts val="1400"/>
              </a:spcAft>
              <a:defRPr sz="1700" b="1">
                <a:solidFill>
                  <a:srgbClr val="C25E2E"/>
                </a:solidFill>
                <a:latin typeface="微軟正黑體"/>
              </a:defRPr>
            </a:pPr>
            <a:r>
              <a:t>就像一位【數位實習老師】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具備虛擬雙手，能直接在電腦建檔運算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直接產出可開啟的 .xlsx 實體檔案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支援「連續動作鏈」，自動執行多步驟</a:t>
            </a:r>
          </a:p>
          <a:p>
            <a:pPr>
              <a:spcAft>
                <a:spcPts val="10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• 下達目標後自主工作，完成時向您回報！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單元一：觀念啟蒙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05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認識 Antigravity 代理人的「三大超能力」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🧠 自主規劃 (Plan)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把大任務拆解為執行清單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給定教學目標，自動啟動深度思考，拆解第一步、第二步、第三步，避免做白工。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091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🛠️ 工具調用 (Tools)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擁有讀寫檔案與運算的能力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不只產出文字，能自主編寫並執行腳本，處理 Excel 表格加權運算與圖表繪製。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66760" y="1965960"/>
            <a:ext cx="594360" cy="594360"/>
          </a:xfrm>
          <a:prstGeom prst="ellipse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微軟正黑體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9748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F4435"/>
                </a:solidFill>
                <a:latin typeface="微軟正黑體"/>
              </a:defRPr>
            </a:pPr>
            <a:r>
              <a:t>📦 工作區成果 (Artifacts)</a:t>
            </a:r>
          </a:p>
          <a:p>
            <a:pPr>
              <a:spcBef>
                <a:spcPts val="400"/>
              </a:spcBef>
              <a:spcAft>
                <a:spcPts val="1200"/>
              </a:spcAft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實體檔案直接存在你的硬碟</a:t>
            </a:r>
          </a:p>
          <a:p>
            <a:pPr>
              <a:lnSpc>
                <a:spcPct val="135000"/>
              </a:lnSpc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所有成績表與報告直接存在電腦資料夾，右側面板隨時即時預覽，一鍵複製使用。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06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打造你的「AI 數位辦公桌」：專屬教學工作區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📂 左側：專案檔案庫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打開 Antigravity 點選 Open Workspace，選擇或新建「2026_教學專案」資料夾。所有由 AI 建立的表格都存於此。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💬 中央：對話指揮中心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如同你的數位助教辦公桌。在這裡下達 CRIS 提示詞，觀察 AI 的思考過程 (Thinking) 與動作執行。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📱 右側：成果即時預覽區</a:t>
            </a:r>
          </a:p>
          <a:p>
            <a:pPr>
              <a:lnSpc>
                <a:spcPct val="135000"/>
              </a:lnSpc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檔案產生後自動在此彈出預覽！試算表、長條圖與文字直接呈現，免手動開外部軟體即可快速檢查確認。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07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安心守則：什麼是「沙盒機制 (Sandbox)」？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966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🛡️ 老師最常擔心的問題：「AI 操作我的電腦，會不會把我原本的重要公文改壞？」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專屬隔離區（Sandbox 沙盒）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就像在操場劃設安全的跑道，Antigravity 的所有自動化執行都被限制在「目前的專案資料夾」，絕對不會跑出去修改你的系統檔或桌面私人檔案。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透明可見的執行過程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AI 的每一步動作、修改了哪個檔案，全部在畫布上記錄得清清楚楚，隨時可以復原。</a:t>
            </a:r>
          </a:p>
          <a:p>
            <a:pPr>
              <a:spcBef>
                <a:spcPts val="800"/>
              </a:spcBef>
              <a:defRPr sz="1700" b="1">
                <a:solidFill>
                  <a:srgbClr val="1F4435"/>
                </a:solidFill>
                <a:latin typeface="微軟正黑體"/>
              </a:defRPr>
            </a:pPr>
            <a:r>
              <a:t>🌿 資安與隱私第一準則</a:t>
            </a:r>
          </a:p>
          <a:p>
            <a:pPr>
              <a:spcAft>
                <a:spcPts val="800"/>
              </a:spcAft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    練習時請勿使用真實學生的身分證字號、家長私人電話等敏感個資，使用代號或模擬資料備課最安心。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08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初學者必備：零代碼環境一鍵健檢與已裝自動化程式清冊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🖥️ 本機實測已就緒之自動化工具清冊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⚡ 基礎環境核心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Python 3.14 (直譯器) ✕ Node.js v24 (MCP運作) ✕ Git (版本/推播)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📐 專業電學與科學繪圖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schemdraw (IEEE鋸齒電阻/電源/閉迴路) ✕ matplotlib (功率曲線) ✕ Pillow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📊 Office 行政自動化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python-pptx (簡報排版動畫) ✕ openpyxl / pandas (加權算分/學情統計)</a:t>
            </a:r>
          </a:p>
          <a:p>
            <a:pPr>
              <a:defRPr sz="1400" b="1">
                <a:solidFill>
                  <a:srgbClr val="C25E2E"/>
                </a:solidFill>
                <a:latin typeface="微軟正黑體"/>
              </a:defRPr>
            </a:pPr>
            <a:r>
              <a:t>🌐 瀏覽器巡航與協定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chrome-devtools-mcp (磨課師人機接力) ✕ selenium ✕ requests</a:t>
            </a:r>
          </a:p>
          <a:p>
            <a:pPr>
              <a:defRPr sz="1100" b="1">
                <a:solidFill>
                  <a:srgbClr val="6C757D"/>
                </a:solidFill>
                <a:latin typeface="微軟正黑體"/>
              </a:defRPr>
            </a:pPr>
            <a:r>
              <a:t>💡 免敲 CMD 指令！只要下達右側咒語，代理人即在背景自動配齊上述工具。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 01：全自動環境健檢與裝備咒語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04288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請扮演我的「電腦教學環境裝備醫生」。我是一位剛接觸 AI 的零基礎老師，請幫我檢查並自動裝備好工作環境：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1. 檢查核心環境：Python 與 Node.js 是否已安裝就緒並回報版本？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2. 檢查 Git 工具：是否安裝 Git 版本控制（供後續推播 GitHub 網站使用）？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3. 檢查並自動安裝「教學必備套件庫」（若缺少請背景自動 pip install，免我開終端機）：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- Office 自動化：openpyxl、pandas、python-pptx、python-docx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   - 專業電學與圖表：schemdraw（標準電路圖）、matplotlib（特性曲線）、pillow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4. 工作區讀寫測試：在當前目錄建立「健檢回報.txt」，並條列檢測狀態。</a:t>
            </a:r>
          </a:p>
          <a:p>
            <a:pPr>
              <a:lnSpc>
                <a:spcPct val="125000"/>
              </a:lnSpc>
              <a:defRPr sz="1100">
                <a:solidFill>
                  <a:srgbClr val="2B2D42"/>
                </a:solidFill>
                <a:latin typeface="微軟正黑體"/>
              </a:defRPr>
            </a:pPr>
            <a:r>
              <a:t>5. 完成後用親切繁體中文，以打勾 (✅) 方式回報所有裝備就緒清單！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單元二：環境建置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09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初試啼聲：讓代理人自主在電腦建立第一份檔案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38404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3291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🎯 實作目標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體驗代理 AI 的「造物」能力！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觀察送出後：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1. AI 思考中（Thinking）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2. 工具調用（write_to_file）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3. 左側檔案清單跳出「研習簽到與教學備忘.txt」</a:t>
            </a:r>
          </a:p>
          <a:p>
            <a:pPr>
              <a:spcAft>
                <a:spcPts val="800"/>
              </a:spcAft>
              <a:defRPr sz="1500">
                <a:solidFill>
                  <a:srgbClr val="2B2D42"/>
                </a:solidFill>
                <a:latin typeface="微軟正黑體"/>
              </a:defRPr>
            </a:pPr>
            <a:r>
              <a:t>4. 點開檔案，內容已真實存在硬碟中！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645920"/>
            <a:ext cx="65836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02：第一份自主建檔咒語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304288"/>
            <a:ext cx="60350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你好！我是 [請填寫學校：例如 大安高工 / 彰師附工] 的 [請填寫學科：例如 電子科 / 資訊科] 老師。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請在我們的工作資料夾中，幫我建立一個名為「研習簽到與教學備忘.txt」的檔案，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內容寫入：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今日日期與時間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研習主題：Antigravity 代理 AI 教學應用實戰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我的教學願景：期許用 AI 幫自己每週省下 3 小時備課時間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- 給老師的一句備課激勵金句</a:t>
            </a:r>
          </a:p>
          <a:p>
            <a:pPr>
              <a:lnSpc>
                <a:spcPct val="125000"/>
              </a:lnSpc>
              <a:defRPr sz="1350">
                <a:solidFill>
                  <a:srgbClr val="2B2D42"/>
                </a:solidFill>
                <a:latin typeface="微軟正黑體"/>
              </a:defRPr>
            </a:pPr>
            <a:r>
              <a:t>建立完成後，請告訴我檔案已儲存。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10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為什麼別人用 AI 像神仙，我用 AI 像智障？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BC4749"/>
                </a:solidFill>
                <a:latin typeface="微軟正黑體"/>
              </a:defRPr>
            </a:pPr>
            <a:r>
              <a:t>❌ 失敗指令：隨意說一句話</a:t>
            </a:r>
          </a:p>
          <a:p>
            <a:pPr>
              <a:spcAft>
                <a:spcPts val="1400"/>
              </a:spcAft>
              <a:defRPr sz="1600" b="1">
                <a:solidFill>
                  <a:srgbClr val="2B2D42"/>
                </a:solidFill>
                <a:latin typeface="微軟正黑體"/>
              </a:defRPr>
            </a:pPr>
            <a:r>
              <a:t>「幫我出幾題基本電學題目。」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AI 不知道給技術高中哪一科、幾年級學生做（高一初學？統測複習？）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題目數值未經設計，常出現除不盡的繁雜小數，無法快速手算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缺乏電路化簡結構，沒有串並聯拆解步驟與戴維寧等效解析</a:t>
            </a:r>
          </a:p>
          <a:p>
            <a:pPr>
              <a:spcAft>
                <a:spcPts val="800"/>
              </a:spcAft>
              <a:defRPr sz="1400">
                <a:solidFill>
                  <a:srgbClr val="6C757D"/>
                </a:solidFill>
                <a:latin typeface="微軟正黑體"/>
              </a:defRPr>
            </a:pPr>
            <a:r>
              <a:t>• 老師還得花大量時間拿計算紙一題一題重新驗算電路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⭕ 大師級指令：結構化清晰下達</a:t>
            </a:r>
          </a:p>
          <a:p>
            <a:pPr>
              <a:spcAft>
                <a:spcPts val="1400"/>
              </a:spcAft>
              <a:defRPr sz="1350" b="1">
                <a:solidFill>
                  <a:srgbClr val="2B2D42"/>
                </a:solidFill>
                <a:latin typeface="微軟正黑體"/>
              </a:defRPr>
            </a:pPr>
            <a:r>
              <a:t>「你是一位技術高中電機電子群名師，正在教高一『基本電學：電阻網路分析』。請針對『直流電阻串並聯化簡與戴維寧定理 (Thevenin)』，設計 3 題統測試題等級的素養選擇題。要求：1. 數值經精心設計（電阻與電壓皆為整數，便於計算） 2. 每題包含清晰電路結構描述、4 個選項與標準答案 3. 詳解需列出完整推導步驟（含等效電阻 Rth 與等效電壓 Vth 之求法，並標註學生常錯的短路/開路盲點），以 Markdown 表格呈現。」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角色清晰：鎖定技高電機電子群高一認知程度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數值友好：整數設計，避免繁雜小數干擾核心電路概念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解析嚴謹：完整列出戴維寧等效電路 (Rth, Vth) 逐步推導</a:t>
            </a:r>
          </a:p>
          <a:p>
            <a:pPr>
              <a:spcAft>
                <a:spcPts val="8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✔ 產出即成果：一秒複製即可直接印成課堂隨堂評量卷！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11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實測對決 01：隨意指令慘遭開天窗 ✕ 大師指令電路圖化簡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49377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C4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4480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BC4749"/>
                </a:solidFill>
                <a:latin typeface="微軟正黑體"/>
              </a:defRPr>
            </a:pPr>
            <a:r>
              <a:t>❌ 隨意指令產出（真實車禍現場）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1：死背名詞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「什麼是歐姆定律？請寫出公式。」</a:t>
            </a:r>
            <a:br/>
            <a:r>
              <a:t>➔ 國中生都知道，完全沒有技高電阻網路評量價值。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2：數值極度不友善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「100V 電壓接 33Ω 電阻，求電流？」</a:t>
            </a:r>
            <a:br/>
            <a:r>
              <a:t>➔ 答案 I = 3.0303...A（無限循環小數，學生算到懷疑人生）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題 3：致命傷：電路開天窗！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「試求下圖電路的戴維寧等效電路。（註：此處無圖）❌」</a:t>
            </a:r>
            <a:br/>
            <a:r>
              <a:t>➔ AI 憑空說下圖，根本沒有圖！題目直接作廢！</a:t>
            </a:r>
          </a:p>
          <a:p>
            <a:pPr>
              <a:defRPr sz="1400" b="1">
                <a:solidFill>
                  <a:srgbClr val="2B2D42"/>
                </a:solidFill>
                <a:latin typeface="微軟正黑體"/>
              </a:defRPr>
            </a:pPr>
            <a:r>
              <a:t>• 老師下場：耗時重工</a:t>
            </a:r>
          </a:p>
          <a:p>
            <a:pPr>
              <a:spcAft>
                <a:spcPts val="400"/>
              </a:spcAft>
              <a:defRPr sz="1250">
                <a:solidFill>
                  <a:srgbClr val="6C757D"/>
                </a:solidFill>
                <a:latin typeface="微軟正黑體"/>
              </a:defRPr>
            </a:pPr>
            <a:r>
              <a:t>   無選項、無推導步驟，老師還得花半小時拿計算紙手動重出重算！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645920"/>
            <a:ext cx="548640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4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7830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大師指令產出：題 01 電阻串並聯化簡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【題幹】E = 24V，R1 = 6Ω 與 R2 = 12Ω 並聯後，再與 R3 = 8Ω 串聯。求 RT 與 IT？</a:t>
            </a:r>
            <a:br/>
            <a:r>
              <a:t>【選項】(A) RT=12Ω, IT=2A   (B) RT=14Ω, IT=1.7A   (C) RT=10Ω, IT=2.4A</a:t>
            </a:r>
          </a:p>
        </p:txBody>
      </p:sp>
      <p:pic>
        <p:nvPicPr>
          <p:cNvPr id="12" name="Picture 11" descr="circuit1_series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3017520"/>
            <a:ext cx="5029200" cy="21779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534924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(A) | 推導：R1//R2 = 4Ω ➔ RT = 4 + 8 = 12Ω ➔ IT = 24 / 12 = 2A（整數手算超順！）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常見盲點：學生易誤先算串聯 (6+12=18) 再並聯 8，詳解完整提示避免踩雷！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12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實測對決 02：戴維寧等效模型 ✕ 最大功率轉移曲線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題 02：戴維寧等效模型與負載分析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【題幹】開路電壓 Eth = 18V，等效電阻 Rth = 6Ω。外接負載 RL = 3Ω，求負載電流 IL？</a:t>
            </a:r>
          </a:p>
        </p:txBody>
      </p:sp>
      <p:pic>
        <p:nvPicPr>
          <p:cNvPr id="10" name="Picture 9" descr="circuit2_theven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926080"/>
            <a:ext cx="4754880" cy="1855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530352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(B) 2A | 單迴路串聯：IL = 18 / (6 + 3) = 2A（正負整數好算）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防呆叮嚀：求 Rth 時獨立電壓源應「視為短路 (0V)」，學生常誤當開路！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4592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⭕ 題 03：戴維寧最大功率轉移特性</a:t>
            </a:r>
          </a:p>
          <a:p>
            <a:pPr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【題幹】Eth = 20V，Rth = 5Ω。求使負載獲最大功率之 RL 阻值與最大功率 PL(max)？</a:t>
            </a:r>
          </a:p>
        </p:txBody>
      </p:sp>
      <p:pic>
        <p:nvPicPr>
          <p:cNvPr id="14" name="Picture 13" descr="circuit3_max_po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926080"/>
            <a:ext cx="4754880" cy="24983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46520" y="530352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F4435"/>
                </a:solidFill>
                <a:latin typeface="微軟正黑體"/>
              </a:defRPr>
            </a:pPr>
            <a:r>
              <a:t>✔ 正解 (A) RL=5Ω, PL=20W | 公式：PL(max) = Eth² / (4*Rth) = 400 / 20 = 20W</a:t>
            </a:r>
          </a:p>
          <a:p>
            <a:pPr>
              <a:defRPr sz="1100">
                <a:solidFill>
                  <a:srgbClr val="C25E2E"/>
                </a:solidFill>
                <a:latin typeface="微軟正黑體"/>
              </a:defRPr>
            </a:pPr>
            <a:r>
              <a:t>🚨 防呆叮嚀：分母常忘乘係數 4，誤選 80W（選項 B 典型誘答陷阱）！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13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提示語大師核心公式：CRIS 萬用架構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C - Context（背景與角色）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設定 AI 的專業身分，以及面對的年級、學生程度與教學情境。</a:t>
            </a:r>
            <a:br/>
            <a:r>
              <a:t>例：『你是技高電機電子群名師，面對高一基本電學學生...』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C25E2E"/>
                </a:solidFill>
                <a:latin typeface="微軟正黑體"/>
              </a:defRPr>
            </a:pPr>
            <a:r>
              <a:t>R - Request（明確目標任務）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以動詞開頭，直接告訴 AI 最終要完成什麼工作。</a:t>
            </a:r>
            <a:br/>
            <a:r>
              <a:t>例：『請設計 3 題「電阻串並聯與戴維寧定理」分析試題...』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14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E09F3E"/>
                </a:solidFill>
                <a:latin typeface="微軟正黑體"/>
              </a:defRPr>
            </a:pPr>
            <a:r>
              <a:t>I - Instructions（條件與限制規則）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限制難易度、題型、字數、避免提及的內容。</a:t>
            </a:r>
            <a:br/>
            <a:r>
              <a:t>例：『阻值與電壓需為整數、詳解含 Rth/Vth 步驟、標註常犯迷思...』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14800"/>
            <a:ext cx="4663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8EA89D"/>
                </a:solidFill>
                <a:latin typeface="微軟正黑體"/>
              </a:defRPr>
            </a:pPr>
            <a:r>
              <a:t>S - Style &amp; Format（風格與輸出格式）</a:t>
            </a:r>
          </a:p>
          <a:p>
            <a:pPr>
              <a:lnSpc>
                <a:spcPct val="130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指定輸出外觀，如 Markdown 表格、Word 檔、或 Excel 試算表。</a:t>
            </a:r>
            <a:br/>
            <a:r>
              <a:t>例：『以 Markdown 表格呈現，含題幹、選項、答案與詳解...』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14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代理人專用：下達「連續動作鏈 (Chain of Action)」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86537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81051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1：讀取分析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範例指令：「先讀取工作區內的實習成績檔案，檢查各組實測數據是否有缺漏...」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32841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27355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2：計算處理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範例指令：「接著依據加權標準計算每位同學總分，並標記需課後補救實習名單...」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10698480" cy="126187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05840" y="4791456"/>
            <a:ext cx="822960" cy="822960"/>
          </a:xfrm>
          <a:prstGeom prst="ellipse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軟正黑體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736592"/>
            <a:ext cx="896112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4435"/>
                </a:solidFill>
                <a:latin typeface="微軟正黑體"/>
              </a:defRPr>
            </a:pPr>
            <a:r>
              <a:t>步驟 3：產出建檔</a:t>
            </a:r>
          </a:p>
          <a:p>
            <a:pPr>
              <a:spcBef>
                <a:spcPts val="400"/>
              </a:spcBef>
              <a:defRPr sz="1500">
                <a:solidFill>
                  <a:srgbClr val="6C757D"/>
                </a:solidFill>
                <a:latin typeface="微軟正黑體"/>
              </a:defRPr>
            </a:pPr>
            <a:r>
              <a:t>範例指令：「最後將計算後的完整表格存為新檔，並附上一段 200 字實習學情摘要。」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 ✕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15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神級代理人：MCP 瀏覽器自動化 —— 人機接力與 1 鍵啟動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🤝 30 秒人機接力黃金法則</a:t>
            </a:r>
          </a:p>
          <a:p>
            <a:pPr>
              <a:spcAft>
                <a:spcPts val="1200"/>
              </a:spcAft>
              <a:defRPr sz="1600" b="1">
                <a:solidFill>
                  <a:srgbClr val="C25E2E"/>
                </a:solidFill>
                <a:latin typeface="微軟正黑體"/>
              </a:defRPr>
            </a:pPr>
            <a:r>
              <a:t>💡「資安歸老師，苦工歸 AI！」</a:t>
            </a:r>
          </a:p>
          <a:p>
            <a:pPr>
              <a:spcBef>
                <a:spcPts val="400"/>
              </a:spcBef>
              <a:defRPr sz="1500" b="1">
                <a:solidFill>
                  <a:srgbClr val="2B2D42"/>
                </a:solidFill>
                <a:latin typeface="微軟正黑體"/>
              </a:defRPr>
            </a:pPr>
            <a:r>
              <a:t>👤 老師親手做（前 30 秒免踩雷）：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1. 點兩下「啟動AI伴讀Chrome.bat」（遠端除錯埠 9222）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2. 親自登入教育雲 OpenID（免個資外洩、免驗證碼）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3. 點開課程第一單元，按一次播放鍵！</a:t>
            </a:r>
          </a:p>
          <a:p>
            <a:pPr>
              <a:spcBef>
                <a:spcPts val="400"/>
              </a:spcBef>
              <a:defRPr sz="1500" b="1">
                <a:solidFill>
                  <a:srgbClr val="2B2D42"/>
                </a:solidFill>
                <a:latin typeface="微軟正黑體"/>
              </a:defRPr>
            </a:pPr>
            <a:r>
              <a:t>🤖 AI 代理人接管（後 30 分鐘全代勞）：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0.5 秒自動代點「下一單元」微小按鈕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自動按掉「禁止多重視窗」等中斷警告彈窗</a:t>
            </a:r>
          </a:p>
          <a:p>
            <a:pPr>
              <a:spcAft>
                <a:spcPts val="2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   • 每 24 分鐘微暫停 5 秒重置防閒置計時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提示詞範本 03-A：生手「一鍵通」秒殺指令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04288"/>
            <a:ext cx="46634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請使用 chrome-devtools-mcp 連接我目前開啟的 Chrome 瀏覽器：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1. 找到我正在播放研習影片的磨課師（或數位學習平臺）分頁。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2. 幫我監控影片進度：當前單元播完時，自動幫我點擊「下一單元」繼續播放。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3. 若畫面彈出「禁止多重視窗」或確認警示窗，請自動點擊「確定」排除。</a:t>
            </a:r>
          </a:p>
          <a:p>
            <a:pPr>
              <a:lnSpc>
                <a:spcPct val="125000"/>
              </a:lnSpc>
              <a:defRPr sz="1300">
                <a:solidFill>
                  <a:srgbClr val="2B2D42"/>
                </a:solidFill>
                <a:latin typeface="微軟正黑體"/>
              </a:defRPr>
            </a:pPr>
            <a:r>
              <a:t>4. 開始執行，並在每完成一個章節時向我回報！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單元三：提示語大師 ✕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16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生手一次就成功：全自動巡航 ✕ 突發狀況急救包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48640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提示詞範本 03-B：大師級全自動巡航 CRIS 咒語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93776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【角色】請扮演我的「數位研習全自動伴讀導航員」。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【情境】我已登入磨課師研習平臺（Chrome 9222 遠端除錯埠），畫面正停在課程播放頁。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【任務與執行規則】：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鎖定分頁：使用 list_pages 與 select_page 鎖定包含「moocs」或「elearning」課程分頁。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連播機制：以 1.0x 正常速度播放，影片播畢自動點擊「下一單元（nav_next）」。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防閒置破解：每播 24 分鐘自動微暫停 5 秒後恢復，重置 25/30 分鐘防閒置計時器。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4. 彈窗攔截：呼叫 handle_dialog，一旦有警告彈窗 0 秒點確定。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5. 持續巡航，並在右側記錄完成章節數與累積研習時數！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45920"/>
            <a:ext cx="49377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1874519"/>
            <a:ext cx="4480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🛠️ 研習現場突發狀況「急救包」</a:t>
            </a:r>
          </a:p>
          <a:p>
            <a:pPr>
              <a:spcAft>
                <a:spcPts val="10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遇到意外狀況？複製這幾句咒語貼上立即排除：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1：抓錯分頁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「請列出 Chrome 所有開啟分頁標題，並將焦點切換到磨課師課程那一頁。」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2：彈窗卡住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「畫面上跳出警告對話框，請呼叫 handle_dialog 幫我自動按確定關閉。」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3：按鈕微小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「請在當前網頁尋找包含『下一頁』或『下一單元』按鈕並點擊它。」</a:t>
            </a:r>
          </a:p>
          <a:p>
            <a:pPr>
              <a:defRPr sz="1400" b="1">
                <a:solidFill>
                  <a:srgbClr val="1F4435"/>
                </a:solidFill>
                <a:latin typeface="微軟正黑體"/>
              </a:defRPr>
            </a:pPr>
            <a:r>
              <a:t>⚠️ 狀況 4：查詢進度</a:t>
            </a:r>
          </a:p>
          <a:p>
            <a:pPr>
              <a:spcAft>
                <a:spcPts val="6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「請幫我查看當前課程的累計閱讀時數與完成進度百分比。」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17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Office 自動化第一彈：手動拉公式算成績的終結者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BC4749"/>
                </a:solidFill>
                <a:latin typeface="微軟正黑體"/>
              </a:defRPr>
            </a:pPr>
            <a:r>
              <a:t>傳統算成績的痛苦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總分、平均手動打 =SUM、=AVERAGE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不及格要一欄一欄篩選、改粉紅色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等第判定寫巢狀 =IF 寫到眼花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全班最高分、最低分還要再算一次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6634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107C41"/>
                </a:solidFill>
                <a:latin typeface="微軟正黑體"/>
              </a:defRPr>
            </a:pPr>
            <a:r>
              <a:t>Antigravity 代理人解法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把原始資料給它，或直接模擬整班成績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AI 在背景自行執行演算法運算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自動標記不及格粉紅色底色</a:t>
            </a:r>
          </a:p>
          <a:p>
            <a:pPr>
              <a:spcAft>
                <a:spcPts val="1200"/>
              </a:spcAft>
              <a:defRPr sz="1600">
                <a:solidFill>
                  <a:srgbClr val="2B2D42"/>
                </a:solidFill>
                <a:latin typeface="微軟正黑體"/>
              </a:defRPr>
            </a:pPr>
            <a:r>
              <a:t>• 幾秒鐘直接產出格式化完成的 .xlsx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18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實戰演練：全自動班級成績統計與等第運算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39496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04：Excel 自動算成績大師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請扮演我的「教務與實習成績統計助理」。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任務：在工作區建立「高二電子科專業實習第一次段考成績表.xlsx」。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資料要求：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模擬 15 位技高學生名單（座號 1~15、學生姓名用王小明等假名），包含三項成績：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專業筆試 (占 30%)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示波器實作量測 (占 50%)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平時實習表現與工安規範 (占 20%)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自動計算：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每位學生「學期加權總分（四捨五入至小數第一位）」。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根據加權總分判定「等第」（90優/80甲/70乙/60丙/未滿60丁）。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   - 實作或筆試未滿 60 分用醒目粉紅色底色標記。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表格最下方計算各項「全班平均」、「最高分」、「最低分」。</a:t>
            </a:r>
          </a:p>
          <a:p>
            <a:pPr>
              <a:lnSpc>
                <a:spcPct val="125000"/>
              </a:lnSpc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完成後儲存為 .xlsx 檔案並提供預覽。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50292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7C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83680" y="1828800"/>
            <a:ext cx="4663440" cy="384048"/>
          </a:xfrm>
          <a:prstGeom prst="roundRect">
            <a:avLst/>
          </a:prstGeom>
          <a:solidFill>
            <a:srgbClr val="107C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200" b="1">
                <a:solidFill>
                  <a:srgbClr val="FFFFFF"/>
                </a:solidFill>
                <a:latin typeface="微軟正黑體"/>
              </a:defRPr>
            </a:pPr>
            <a:r>
              <a:t>📊 預期產出：高二電子科專業實習第一次段考成績表.xlsx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0" y="2331720"/>
          <a:ext cx="4663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822960"/>
                <a:gridCol w="731520"/>
                <a:gridCol w="731520"/>
                <a:gridCol w="731520"/>
                <a:gridCol w="100584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座號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姓名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筆試(30%)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實作(50%)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平時(20%)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微軟正黑體"/>
                        </a:defRPr>
                      </a:pPr>
                      <a:r>
                        <a:t>加權/等第</a:t>
                      </a:r>
                    </a:p>
                  </a:txBody>
                  <a:tcPr anchor="ctr">
                    <a:solidFill>
                      <a:srgbClr val="107C41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王小明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89.4 (甲)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李小華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BC4749"/>
                          </a:solidFill>
                          <a:latin typeface="微軟正黑體"/>
                        </a:defRPr>
                      </a:pPr>
                      <a:r>
                        <a:t>55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74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60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65.5 (丙)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張大同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95.5 (優)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陳美麗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72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BC4749"/>
                          </a:solidFill>
                          <a:latin typeface="微軟正黑體"/>
                        </a:defRPr>
                      </a:pPr>
                      <a:r>
                        <a:t>48</a:t>
                      </a:r>
                    </a:p>
                  </a:txBody>
                  <a:tcPr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75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2B2D42"/>
                          </a:solidFill>
                          <a:latin typeface="微軟正黑體"/>
                        </a:defRPr>
                      </a:pPr>
                      <a:r>
                        <a:t>60.6 (丙)</a:t>
                      </a:r>
                    </a:p>
                  </a:txBody>
                  <a:tcPr anchor="ctr">
                    <a:solidFill>
                      <a:srgbClr val="F8FAF9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班平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全班平均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77.5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77.5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78.8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4435"/>
                          </a:solidFill>
                          <a:latin typeface="微軟正黑體"/>
                        </a:defRPr>
                      </a:pPr>
                      <a:r>
                        <a:t>77.8</a:t>
                      </a:r>
                    </a:p>
                  </a:txBody>
                  <a:tcPr anchor="ctr">
                    <a:solidFill>
                      <a:srgbClr val="E6F0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單元四：Excel 自動化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19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進階演練：成績深入學情分析與圖表自動生成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EF9EF"/>
          </a:solidFill>
          <a:ln w="19050">
            <a:solidFill>
              <a:srgbClr val="D98A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474720" cy="384048"/>
          </a:xfrm>
          <a:prstGeom prst="round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300" b="1">
                <a:solidFill>
                  <a:srgbClr val="FFFFFF"/>
                </a:solidFill>
                <a:latin typeface="微軟正黑體"/>
              </a:defRPr>
            </a:pPr>
            <a:r>
              <a:t>📜 實戰提示詞範本 05：學情診斷與視覺化圖表生成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847088"/>
            <a:ext cx="2377440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C757D"/>
                </a:solidFill>
                <a:latin typeface="微軟正黑體"/>
              </a:defRPr>
            </a:pPr>
            <a:r>
              <a:t>💡 可直接反白複製使用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04288"/>
            <a:ext cx="1014984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請讀取剛剛建立的「高二電子科專業實習第一次段考成績表.xlsx」，進行深入學情分析：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1. 請繪製一張「實作成績分布級距長條圖」（以 10 分為一個級距），存成圖檔放入工作區。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2. 請列出分析摘要：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   - 班上實作前三名同學是誰？儀器操作亮點在哪？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   - 筆試或實作不及格人數各有幾位？</a:t>
            </a:r>
          </a:p>
          <a:p>
            <a:pPr>
              <a:lnSpc>
                <a:spcPct val="125000"/>
              </a:lnSpc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3. 請幫我寫一段 200 字左右的「技高專業實習學情檢討摘要」，適合直接複製到我的實習教學日誌或教學研究會報告中。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單元四：成果網頁化與 GitHub 發布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20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成果發布 01：GitHub 免費帳號註冊與個人網址規劃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📝 3 分鐘免費註冊步驟（按圖索驥）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步驟 1：前往官方網站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打開瀏覽器連至 github.com，點右上角「Sign up」綠色註冊鈕。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步驟 2：填寫基本三要素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輸入 Email（收驗證碼）➔ 設定高強度密碼 ➔ 決定 Username。</a:t>
            </a:r>
          </a:p>
          <a:p>
            <a:pPr>
              <a:defRPr sz="1500" b="1">
                <a:solidFill>
                  <a:srgbClr val="C25E2E"/>
                </a:solidFill>
                <a:latin typeface="微軟正黑體"/>
              </a:defRPr>
            </a:pPr>
            <a:r>
              <a:t>⭐ 帳號命名關鍵訣竅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Username 將成為個人教學網站網址！例如 teacher-lin，日後網址即為 teacher-lin.github.io。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步驟 3：防偽驗證與啟用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完成拼圖或動物方向旋轉驗證，至信箱收 8 位數驗證碼回填即可！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💡 老師為什麼需要 GitHub？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🌐 終身免費靜態網頁託管 (GitHub Pages)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不需花錢租伺服器，教材、學習單放上去自動生成永久專屬網址。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📱 手機、平板、電腦隨點隨看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學生或觀課老師掃描 QR Code 就能即時瀏覽互動題目與電路圖。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🛡️ 雲端永久備份與版本履歷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每次修改教材都有歷史紀錄，不怕誤刪或檔案毀損。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🤖 代理 AI 接管重活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老師不必學複雜 Git 指令，只要動動嘴，編碼與推送全由代理人搞定！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單元四：成果網頁化與 GitHub 發布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21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成果發布 02：建立倉庫 ✕ 代理人一鍵轉網頁推播 (Prompt 06)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🖱️ 老師只需做這一步：開新倉庫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1. 點擊右上角「+」號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選擇「New repository」（新增儲存庫）。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2. 輸入儲存庫名稱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建議輸入英文字母，如 teacher-workshop 或 basic-circuits。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3. 設為 Public（公開）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勾選 Public，其餘勾選項目保持預設免動。</a:t>
            </a:r>
          </a:p>
          <a:p>
            <a:pPr>
              <a:defRPr sz="1500" b="1">
                <a:solidFill>
                  <a:srgbClr val="1F4435"/>
                </a:solidFill>
                <a:latin typeface="微軟正黑體"/>
              </a:defRPr>
            </a:pPr>
            <a:r>
              <a:t>4. 點擊綠色建立按鈕</a:t>
            </a:r>
          </a:p>
          <a:p>
            <a:pPr>
              <a:spcAft>
                <a:spcPts val="800"/>
              </a:spcAft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按下「Create repository」，複製網頁上顯示的網址（HTTPS）。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📜 實戰提示詞 06：全自動網頁化與推送</a:t>
            </a:r>
          </a:p>
          <a:p>
            <a:pPr>
              <a:spcAft>
                <a:spcPts val="400"/>
              </a:spcAft>
              <a:defRPr sz="1200" b="1">
                <a:solidFill>
                  <a:srgbClr val="C25E2E"/>
                </a:solidFill>
                <a:latin typeface="微軟正黑體"/>
              </a:defRPr>
            </a:pPr>
            <a:r>
              <a:t>💡 可直接反白複製使用：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我已在 GitHub 建立好儲存庫，網址為 [貼上倉庫網址]。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請幫我執行以下自動化動作鏈：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1. 將今日的「基本電學題目與標準電路圖」自動轉成一個現代化響應式單頁網頁 (index.html)。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2. 將 Git 使用者綁定為我的姓名與 Email。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3. 將 index.html、電路圖檔與投影片全部 commit 並 push 到該倉庫的 main 分支。</a:t>
            </a:r>
          </a:p>
          <a:p>
            <a:pPr>
              <a:spcAft>
                <a:spcPts val="400"/>
              </a:spcAft>
              <a:defRPr sz="1200">
                <a:solidFill>
                  <a:srgbClr val="2B2D42"/>
                </a:solidFill>
                <a:latin typeface="微軟正黑體"/>
              </a:defRPr>
            </a:pPr>
            <a:r>
              <a:t>4. 指引我到倉庫 Settings 開啟 GitHub Pages，並回報我最終的公開網站網址！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4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3840480" cy="36576"/>
          </a:xfrm>
          <a:prstGeom prst="rect">
            <a:avLst/>
          </a:prstGeom>
          <a:solidFill>
            <a:srgbClr val="C25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77724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C25E2E"/>
                </a:solidFill>
                <a:latin typeface="微軟正黑體"/>
              </a:defRPr>
            </a:pPr>
            <a:r>
              <a:t>🌿 ANTIGRAVITY 研習手冊  |  研習總結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320040"/>
            <a:ext cx="21031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300">
                <a:solidFill>
                  <a:srgbClr val="6C757D"/>
                </a:solidFill>
                <a:latin typeface="微軟正黑體"/>
              </a:defRPr>
            </a:pPr>
            <a:r>
              <a:t>第 22 / 22 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8368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F4435"/>
                </a:solidFill>
                <a:latin typeface="微軟正黑體"/>
              </a:defRPr>
            </a:pPr>
            <a:r>
              <a:t>今日收穫總結 ＆ 下週第二場精彩預告！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6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1F4435"/>
                </a:solidFill>
                <a:latin typeface="微軟正黑體"/>
              </a:defRPr>
            </a:pPr>
            <a:r>
              <a:t>🎉 今日已解鎖技能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完成 Antigravity 工作區建置與沙盒安全檢測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掌握零代碼一鍵自動安裝 Python/Excel 套件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掌握基本電學電阻網路分析之結構化命題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親歷電路圖文並茂 vs 開天窗之實測對比震撼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 MCP 磨課師自動化：人機接力與急救包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實戰 Excel 自動算技高加權成績與學情分析圖表</a:t>
            </a:r>
          </a:p>
          <a:p>
            <a:pPr>
              <a:spcAft>
                <a:spcPts val="600"/>
              </a:spcAft>
              <a:defRPr sz="1300" b="1">
                <a:solidFill>
                  <a:srgbClr val="2B2D42"/>
                </a:solidFill>
                <a:latin typeface="微軟正黑體"/>
              </a:defRPr>
            </a:pPr>
            <a:r>
              <a:t>✅ 掌握 GitHub 免費註冊 ✕ 成果一鍵轉網頁推播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25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C25E2E"/>
                </a:solidFill>
                <a:latin typeface="微軟正黑體"/>
              </a:defRPr>
            </a:pPr>
            <a:r>
              <a:t>🔥 下週第二場重頭戲預告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🌐 零程式碼做網頁：一句話做出「課堂隨機抽籤輪盤」與「自動計分測驗互動網頁」！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🎬 AI 做簡報與做影片：教案一鍵轉 PPT，再自動配語音旁白做成微課教學影片！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👥 多代理人協同備課：讓兩個 AI 一個出題、一個挑錯審查！</a:t>
            </a:r>
          </a:p>
          <a:p>
            <a:pPr>
              <a:spcAft>
                <a:spcPts val="1000"/>
              </a:spcAft>
              <a:defRPr sz="1400">
                <a:solidFill>
                  <a:srgbClr val="2B2D42"/>
                </a:solidFill>
                <a:latin typeface="微軟正黑體"/>
              </a:defRPr>
            </a:pPr>
            <a:r>
              <a:t>🎁 課後任務：試著將自己的教材或題庫推上 GitHub，下週開場互相觀摩！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